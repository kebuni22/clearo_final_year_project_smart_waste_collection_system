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Helvetica World Bold" panose="020B0604020202020204" charset="-128"/>
      <p:regular r:id="rId16"/>
    </p:embeddedFont>
    <p:embeddedFont>
      <p:font typeface="Canva Sans Bold" panose="020B0604020202020204" charset="0"/>
      <p:regular r:id="rId17"/>
    </p:embeddedFont>
    <p:embeddedFont>
      <p:font typeface="Coco Gothic Bold" panose="020B0604020202020204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0000800000000000000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66539-E558-477A-8F82-BE9DDFEDAAC8}" v="3" dt="2025-01-29T03:55:10.763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>
      <p:cViewPr varScale="1">
        <p:scale>
          <a:sx n="51" d="100"/>
          <a:sy n="51" d="100"/>
        </p:scale>
        <p:origin x="121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buni Ranasinghe" userId="407c0283f34bab45" providerId="LiveId" clId="{DEF66539-E558-477A-8F82-BE9DDFEDAAC8}"/>
    <pc:docChg chg="undo custSel addSld modSld sldOrd">
      <pc:chgData name="Kebuni Ranasinghe" userId="407c0283f34bab45" providerId="LiveId" clId="{DEF66539-E558-477A-8F82-BE9DDFEDAAC8}" dt="2025-02-04T18:51:43.665" v="238" actId="22"/>
      <pc:docMkLst>
        <pc:docMk/>
      </pc:docMkLst>
      <pc:sldChg chg="modSp mod ord modNotesTx">
        <pc:chgData name="Kebuni Ranasinghe" userId="407c0283f34bab45" providerId="LiveId" clId="{DEF66539-E558-477A-8F82-BE9DDFEDAAC8}" dt="2025-01-28T19:33:47.044" v="109" actId="20577"/>
        <pc:sldMkLst>
          <pc:docMk/>
          <pc:sldMk cId="0" sldId="256"/>
        </pc:sldMkLst>
        <pc:spChg chg="mod">
          <ac:chgData name="Kebuni Ranasinghe" userId="407c0283f34bab45" providerId="LiveId" clId="{DEF66539-E558-477A-8F82-BE9DDFEDAAC8}" dt="2025-01-28T18:42:09.721" v="78" actId="1076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Kebuni Ranasinghe" userId="407c0283f34bab45" providerId="LiveId" clId="{DEF66539-E558-477A-8F82-BE9DDFEDAAC8}" dt="2025-01-28T18:23:50.078" v="33" actId="14100"/>
        <pc:sldMkLst>
          <pc:docMk/>
          <pc:sldMk cId="0" sldId="257"/>
        </pc:sldMkLst>
        <pc:spChg chg="mod">
          <ac:chgData name="Kebuni Ranasinghe" userId="407c0283f34bab45" providerId="LiveId" clId="{DEF66539-E558-477A-8F82-BE9DDFEDAAC8}" dt="2025-01-28T18:23:30.141" v="31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20:00.022" v="4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19:39.058" v="2" actId="1076"/>
          <ac:spMkLst>
            <pc:docMk/>
            <pc:sldMk cId="0" sldId="257"/>
            <ac:spMk id="11" creationId="{00000000-0000-0000-0000-000000000000}"/>
          </ac:spMkLst>
        </pc:spChg>
        <pc:grpChg chg="mod">
          <ac:chgData name="Kebuni Ranasinghe" userId="407c0283f34bab45" providerId="LiveId" clId="{DEF66539-E558-477A-8F82-BE9DDFEDAAC8}" dt="2025-01-28T18:23:50.078" v="33" actId="14100"/>
          <ac:grpSpMkLst>
            <pc:docMk/>
            <pc:sldMk cId="0" sldId="257"/>
            <ac:grpSpMk id="10" creationId="{00000000-0000-0000-0000-000000000000}"/>
          </ac:grpSpMkLst>
        </pc:grpChg>
      </pc:sldChg>
      <pc:sldChg chg="modSp mod">
        <pc:chgData name="Kebuni Ranasinghe" userId="407c0283f34bab45" providerId="LiveId" clId="{DEF66539-E558-477A-8F82-BE9DDFEDAAC8}" dt="2025-01-28T18:31:00.028" v="61" actId="1076"/>
        <pc:sldMkLst>
          <pc:docMk/>
          <pc:sldMk cId="0" sldId="258"/>
        </pc:sldMkLst>
        <pc:spChg chg="mod">
          <ac:chgData name="Kebuni Ranasinghe" userId="407c0283f34bab45" providerId="LiveId" clId="{DEF66539-E558-477A-8F82-BE9DDFEDAAC8}" dt="2025-01-28T18:31:00.028" v="61" actId="107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Kebuni Ranasinghe" userId="407c0283f34bab45" providerId="LiveId" clId="{DEF66539-E558-477A-8F82-BE9DDFEDAAC8}" dt="2025-01-28T18:44:16.994" v="84" actId="1076"/>
        <pc:sldMkLst>
          <pc:docMk/>
          <pc:sldMk cId="0" sldId="259"/>
        </pc:sldMkLst>
        <pc:spChg chg="mod">
          <ac:chgData name="Kebuni Ranasinghe" userId="407c0283f34bab45" providerId="LiveId" clId="{DEF66539-E558-477A-8F82-BE9DDFEDAAC8}" dt="2025-01-28T18:31:13.628" v="62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44:16.994" v="84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44:11.166" v="83" actId="1076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Kebuni Ranasinghe" userId="407c0283f34bab45" providerId="LiveId" clId="{DEF66539-E558-477A-8F82-BE9DDFEDAAC8}" dt="2025-01-28T18:54:54.721" v="85" actId="1076"/>
        <pc:sldMkLst>
          <pc:docMk/>
          <pc:sldMk cId="0" sldId="260"/>
        </pc:sldMkLst>
        <pc:spChg chg="mod">
          <ac:chgData name="Kebuni Ranasinghe" userId="407c0283f34bab45" providerId="LiveId" clId="{DEF66539-E558-477A-8F82-BE9DDFEDAAC8}" dt="2025-01-28T18:27:38.643" v="5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35:29.922" v="69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54:54.721" v="85" actId="1076"/>
          <ac:spMkLst>
            <pc:docMk/>
            <pc:sldMk cId="0" sldId="260"/>
            <ac:spMk id="12" creationId="{B36511AB-7A89-CFDF-3C3E-EF68940A721C}"/>
          </ac:spMkLst>
        </pc:spChg>
      </pc:sldChg>
      <pc:sldChg chg="addSp delSp modSp mod">
        <pc:chgData name="Kebuni Ranasinghe" userId="407c0283f34bab45" providerId="LiveId" clId="{DEF66539-E558-477A-8F82-BE9DDFEDAAC8}" dt="2025-02-04T18:51:43.665" v="238" actId="22"/>
        <pc:sldMkLst>
          <pc:docMk/>
          <pc:sldMk cId="0" sldId="261"/>
        </pc:sldMkLst>
        <pc:spChg chg="mod">
          <ac:chgData name="Kebuni Ranasinghe" userId="407c0283f34bab45" providerId="LiveId" clId="{DEF66539-E558-477A-8F82-BE9DDFEDAAC8}" dt="2025-01-28T18:28:53.448" v="56" actId="1076"/>
          <ac:spMkLst>
            <pc:docMk/>
            <pc:sldMk cId="0" sldId="261"/>
            <ac:spMk id="4" creationId="{00000000-0000-0000-0000-000000000000}"/>
          </ac:spMkLst>
        </pc:spChg>
        <pc:spChg chg="add del">
          <ac:chgData name="Kebuni Ranasinghe" userId="407c0283f34bab45" providerId="LiveId" clId="{DEF66539-E558-477A-8F82-BE9DDFEDAAC8}" dt="2025-02-04T18:51:43.665" v="238" actId="22"/>
          <ac:spMkLst>
            <pc:docMk/>
            <pc:sldMk cId="0" sldId="261"/>
            <ac:spMk id="10" creationId="{EEFE9F92-7C83-9128-8019-8BDE96C36BAF}"/>
          </ac:spMkLst>
        </pc:spChg>
      </pc:sldChg>
      <pc:sldChg chg="modSp mod">
        <pc:chgData name="Kebuni Ranasinghe" userId="407c0283f34bab45" providerId="LiveId" clId="{DEF66539-E558-477A-8F82-BE9DDFEDAAC8}" dt="2025-01-28T18:36:02.721" v="71" actId="167"/>
        <pc:sldMkLst>
          <pc:docMk/>
          <pc:sldMk cId="0" sldId="262"/>
        </pc:sldMkLst>
        <pc:spChg chg="mod">
          <ac:chgData name="Kebuni Ranasinghe" userId="407c0283f34bab45" providerId="LiveId" clId="{DEF66539-E558-477A-8F82-BE9DDFEDAAC8}" dt="2025-01-28T18:29:06.422" v="57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35:55.202" v="70" actId="1076"/>
          <ac:spMkLst>
            <pc:docMk/>
            <pc:sldMk cId="0" sldId="262"/>
            <ac:spMk id="4" creationId="{00000000-0000-0000-0000-000000000000}"/>
          </ac:spMkLst>
        </pc:spChg>
        <pc:spChg chg="ord">
          <ac:chgData name="Kebuni Ranasinghe" userId="407c0283f34bab45" providerId="LiveId" clId="{DEF66539-E558-477A-8F82-BE9DDFEDAAC8}" dt="2025-01-28T18:36:02.721" v="71" actId="16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Kebuni Ranasinghe" userId="407c0283f34bab45" providerId="LiveId" clId="{DEF66539-E558-477A-8F82-BE9DDFEDAAC8}" dt="2025-01-28T18:39:31.750" v="76" actId="1076"/>
        <pc:sldMkLst>
          <pc:docMk/>
          <pc:sldMk cId="0" sldId="263"/>
        </pc:sldMkLst>
        <pc:spChg chg="mod">
          <ac:chgData name="Kebuni Ranasinghe" userId="407c0283f34bab45" providerId="LiveId" clId="{DEF66539-E558-477A-8F82-BE9DDFEDAAC8}" dt="2025-01-28T18:29:19.763" v="58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39:31.750" v="76" actId="1076"/>
          <ac:spMkLst>
            <pc:docMk/>
            <pc:sldMk cId="0" sldId="263"/>
            <ac:spMk id="4" creationId="{00000000-0000-0000-0000-000000000000}"/>
          </ac:spMkLst>
        </pc:spChg>
        <pc:spChg chg="ord">
          <ac:chgData name="Kebuni Ranasinghe" userId="407c0283f34bab45" providerId="LiveId" clId="{DEF66539-E558-477A-8F82-BE9DDFEDAAC8}" dt="2025-01-28T18:38:08.856" v="75" actId="16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Kebuni Ranasinghe" userId="407c0283f34bab45" providerId="LiveId" clId="{DEF66539-E558-477A-8F82-BE9DDFEDAAC8}" dt="2025-01-29T04:01:59.363" v="233" actId="1076"/>
        <pc:sldMkLst>
          <pc:docMk/>
          <pc:sldMk cId="0" sldId="264"/>
        </pc:sldMkLst>
        <pc:spChg chg="mod">
          <ac:chgData name="Kebuni Ranasinghe" userId="407c0283f34bab45" providerId="LiveId" clId="{DEF66539-E558-477A-8F82-BE9DDFEDAAC8}" dt="2025-01-28T18:43:18.081" v="8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8T18:42:27.878" v="79" actId="25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9T04:01:59.363" v="233" actId="1076"/>
          <ac:spMkLst>
            <pc:docMk/>
            <pc:sldMk cId="0" sldId="264"/>
            <ac:spMk id="19" creationId="{676897FE-EF6E-5372-D9B0-0F0E286B6956}"/>
          </ac:spMkLst>
        </pc:spChg>
        <pc:spChg chg="mod">
          <ac:chgData name="Kebuni Ranasinghe" userId="407c0283f34bab45" providerId="LiveId" clId="{DEF66539-E558-477A-8F82-BE9DDFEDAAC8}" dt="2025-01-28T18:31:57.936" v="65" actId="1076"/>
          <ac:spMkLst>
            <pc:docMk/>
            <pc:sldMk cId="0" sldId="264"/>
            <ac:spMk id="20" creationId="{6AE81FE9-C7F4-CDD1-5726-2853E871250F}"/>
          </ac:spMkLst>
        </pc:spChg>
      </pc:sldChg>
      <pc:sldChg chg="modSp mod">
        <pc:chgData name="Kebuni Ranasinghe" userId="407c0283f34bab45" providerId="LiveId" clId="{DEF66539-E558-477A-8F82-BE9DDFEDAAC8}" dt="2025-01-29T04:02:41.022" v="236" actId="1076"/>
        <pc:sldMkLst>
          <pc:docMk/>
          <pc:sldMk cId="0" sldId="265"/>
        </pc:sldMkLst>
        <pc:spChg chg="mod">
          <ac:chgData name="Kebuni Ranasinghe" userId="407c0283f34bab45" providerId="LiveId" clId="{DEF66539-E558-477A-8F82-BE9DDFEDAAC8}" dt="2025-01-28T18:30:01.193" v="60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9T04:02:41.022" v="236" actId="1076"/>
          <ac:spMkLst>
            <pc:docMk/>
            <pc:sldMk cId="0" sldId="265"/>
            <ac:spMk id="5" creationId="{AB9E1223-C828-A225-C0BA-60499EF9A780}"/>
          </ac:spMkLst>
        </pc:spChg>
      </pc:sldChg>
      <pc:sldChg chg="modSp mod">
        <pc:chgData name="Kebuni Ranasinghe" userId="407c0283f34bab45" providerId="LiveId" clId="{DEF66539-E558-477A-8F82-BE9DDFEDAAC8}" dt="2025-01-29T04:02:21.092" v="235" actId="1076"/>
        <pc:sldMkLst>
          <pc:docMk/>
          <pc:sldMk cId="0" sldId="266"/>
        </pc:sldMkLst>
        <pc:spChg chg="mod">
          <ac:chgData name="Kebuni Ranasinghe" userId="407c0283f34bab45" providerId="LiveId" clId="{DEF66539-E558-477A-8F82-BE9DDFEDAAC8}" dt="2025-01-29T04:02:21.092" v="235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Kebuni Ranasinghe" userId="407c0283f34bab45" providerId="LiveId" clId="{DEF66539-E558-477A-8F82-BE9DDFEDAAC8}" dt="2025-01-29T04:00:22.337" v="232" actId="14100"/>
        <pc:sldMkLst>
          <pc:docMk/>
          <pc:sldMk cId="0" sldId="267"/>
        </pc:sldMkLst>
        <pc:spChg chg="mod">
          <ac:chgData name="Kebuni Ranasinghe" userId="407c0283f34bab45" providerId="LiveId" clId="{DEF66539-E558-477A-8F82-BE9DDFEDAAC8}" dt="2025-01-29T04:00:11.406" v="229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ebuni Ranasinghe" userId="407c0283f34bab45" providerId="LiveId" clId="{DEF66539-E558-477A-8F82-BE9DDFEDAAC8}" dt="2025-01-29T04:00:22.337" v="232" actId="14100"/>
          <ac:spMkLst>
            <pc:docMk/>
            <pc:sldMk cId="0" sldId="267"/>
            <ac:spMk id="4" creationId="{0C05AE2B-84E0-D28B-B165-78AE73025969}"/>
          </ac:spMkLst>
        </pc:spChg>
      </pc:sldChg>
      <pc:sldChg chg="addSp delSp modSp add mod">
        <pc:chgData name="Kebuni Ranasinghe" userId="407c0283f34bab45" providerId="LiveId" clId="{DEF66539-E558-477A-8F82-BE9DDFEDAAC8}" dt="2025-01-29T03:58:22.943" v="217" actId="20577"/>
        <pc:sldMkLst>
          <pc:docMk/>
          <pc:sldMk cId="1847827853" sldId="268"/>
        </pc:sldMkLst>
        <pc:spChg chg="add mod">
          <ac:chgData name="Kebuni Ranasinghe" userId="407c0283f34bab45" providerId="LiveId" clId="{DEF66539-E558-477A-8F82-BE9DDFEDAAC8}" dt="2025-01-29T03:57:34.595" v="211" actId="20577"/>
          <ac:spMkLst>
            <pc:docMk/>
            <pc:sldMk cId="1847827853" sldId="268"/>
            <ac:spMk id="2" creationId="{DF1785A0-C2C9-4765-C88F-8C3C5325340A}"/>
          </ac:spMkLst>
        </pc:spChg>
        <pc:spChg chg="add del mod">
          <ac:chgData name="Kebuni Ranasinghe" userId="407c0283f34bab45" providerId="LiveId" clId="{DEF66539-E558-477A-8F82-BE9DDFEDAAC8}" dt="2025-01-29T03:57:10.076" v="204" actId="1076"/>
          <ac:spMkLst>
            <pc:docMk/>
            <pc:sldMk cId="1847827853" sldId="268"/>
            <ac:spMk id="3" creationId="{987DD937-58E6-3F69-B873-5BC2F53B58B4}"/>
          </ac:spMkLst>
        </pc:spChg>
        <pc:spChg chg="mod">
          <ac:chgData name="Kebuni Ranasinghe" userId="407c0283f34bab45" providerId="LiveId" clId="{DEF66539-E558-477A-8F82-BE9DDFEDAAC8}" dt="2025-01-29T03:51:58.785" v="151" actId="1076"/>
          <ac:spMkLst>
            <pc:docMk/>
            <pc:sldMk cId="1847827853" sldId="268"/>
            <ac:spMk id="4" creationId="{BA4803BF-FBCB-2C37-17E4-8C95B97D8E30}"/>
          </ac:spMkLst>
        </pc:spChg>
        <pc:spChg chg="mod">
          <ac:chgData name="Kebuni Ranasinghe" userId="407c0283f34bab45" providerId="LiveId" clId="{DEF66539-E558-477A-8F82-BE9DDFEDAAC8}" dt="2025-01-29T03:58:22.943" v="217" actId="20577"/>
          <ac:spMkLst>
            <pc:docMk/>
            <pc:sldMk cId="1847827853" sldId="268"/>
            <ac:spMk id="5" creationId="{4C22BD3C-D61B-F21B-AC23-5CF9E932EFB9}"/>
          </ac:spMkLst>
        </pc:spChg>
        <pc:spChg chg="mod">
          <ac:chgData name="Kebuni Ranasinghe" userId="407c0283f34bab45" providerId="LiveId" clId="{DEF66539-E558-477A-8F82-BE9DDFEDAAC8}" dt="2025-01-29T03:54:37.235" v="167" actId="1076"/>
          <ac:spMkLst>
            <pc:docMk/>
            <pc:sldMk cId="1847827853" sldId="268"/>
            <ac:spMk id="6" creationId="{90631345-313E-D36C-63F8-A9B01E4A6634}"/>
          </ac:spMkLst>
        </pc:spChg>
        <pc:cxnChg chg="add mod">
          <ac:chgData name="Kebuni Ranasinghe" userId="407c0283f34bab45" providerId="LiveId" clId="{DEF66539-E558-477A-8F82-BE9DDFEDAAC8}" dt="2025-01-29T03:58:13.331" v="215" actId="208"/>
          <ac:cxnSpMkLst>
            <pc:docMk/>
            <pc:sldMk cId="1847827853" sldId="268"/>
            <ac:cxnSpMk id="11" creationId="{EF92292B-EACE-2EB4-D4FC-A117557194D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AAF5E-3CF2-43A9-AA50-DB8DAC671E6D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3815C-AAC7-4ADD-A4B1-51C5452B5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91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3815C-AAC7-4ADD-A4B1-51C5452B5E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1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7.svg"/><Relationship Id="rId21" Type="http://schemas.openxmlformats.org/officeDocument/2006/relationships/image" Target="../media/image35.pn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svg"/><Relationship Id="rId20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sv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sv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svg"/><Relationship Id="rId22" Type="http://schemas.openxmlformats.org/officeDocument/2006/relationships/image" Target="../media/image3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07089" y="2288576"/>
            <a:ext cx="13773389" cy="8229600"/>
          </a:xfrm>
          <a:custGeom>
            <a:avLst/>
            <a:gdLst/>
            <a:ahLst/>
            <a:cxnLst/>
            <a:rect l="l" t="t" r="r" b="b"/>
            <a:pathLst>
              <a:path w="13773389" h="8229600">
                <a:moveTo>
                  <a:pt x="0" y="0"/>
                </a:moveTo>
                <a:lnTo>
                  <a:pt x="13773389" y="0"/>
                </a:lnTo>
                <a:lnTo>
                  <a:pt x="13773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541648" y="284049"/>
            <a:ext cx="3204677" cy="2417662"/>
          </a:xfrm>
          <a:custGeom>
            <a:avLst/>
            <a:gdLst/>
            <a:ahLst/>
            <a:cxnLst/>
            <a:rect l="l" t="t" r="r" b="b"/>
            <a:pathLst>
              <a:path w="3204677" h="2417662">
                <a:moveTo>
                  <a:pt x="0" y="0"/>
                </a:moveTo>
                <a:lnTo>
                  <a:pt x="3204676" y="0"/>
                </a:lnTo>
                <a:lnTo>
                  <a:pt x="3204676" y="2417663"/>
                </a:lnTo>
                <a:lnTo>
                  <a:pt x="0" y="2417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66465" y="2895600"/>
            <a:ext cx="15155042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500" b="1" dirty="0">
                <a:solidFill>
                  <a:srgbClr val="1C1C3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IOT-ENABLED SMART WASTE COLLECTION SYSTEM WITH COMMUNITY SHARING AND REAL-TIME ROUTE OPTIMIZATION </a:t>
            </a:r>
          </a:p>
        </p:txBody>
      </p:sp>
      <p:sp>
        <p:nvSpPr>
          <p:cNvPr id="5" name="Freeform 5"/>
          <p:cNvSpPr/>
          <p:nvPr/>
        </p:nvSpPr>
        <p:spPr>
          <a:xfrm>
            <a:off x="3493353" y="8633330"/>
            <a:ext cx="11301259" cy="1285518"/>
          </a:xfrm>
          <a:custGeom>
            <a:avLst/>
            <a:gdLst/>
            <a:ahLst/>
            <a:cxnLst/>
            <a:rect l="l" t="t" r="r" b="b"/>
            <a:pathLst>
              <a:path w="11301259" h="1285518">
                <a:moveTo>
                  <a:pt x="0" y="0"/>
                </a:moveTo>
                <a:lnTo>
                  <a:pt x="11301258" y="0"/>
                </a:lnTo>
                <a:lnTo>
                  <a:pt x="11301258" y="1285518"/>
                </a:lnTo>
                <a:lnTo>
                  <a:pt x="0" y="128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736431" y="5387089"/>
            <a:ext cx="8815122" cy="1620897"/>
            <a:chOff x="-2" y="-92973"/>
            <a:chExt cx="1043889" cy="1919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3887" cy="96697"/>
            </a:xfrm>
            <a:custGeom>
              <a:avLst/>
              <a:gdLst/>
              <a:ahLst/>
              <a:cxnLst/>
              <a:rect l="l" t="t" r="r" b="b"/>
              <a:pathLst>
                <a:path w="1043887" h="96697">
                  <a:moveTo>
                    <a:pt x="8783" y="0"/>
                  </a:moveTo>
                  <a:lnTo>
                    <a:pt x="1035104" y="0"/>
                  </a:lnTo>
                  <a:cubicBezTo>
                    <a:pt x="1039955" y="0"/>
                    <a:pt x="1043887" y="3932"/>
                    <a:pt x="1043887" y="8783"/>
                  </a:cubicBezTo>
                  <a:lnTo>
                    <a:pt x="1043887" y="87914"/>
                  </a:lnTo>
                  <a:cubicBezTo>
                    <a:pt x="1043887" y="90244"/>
                    <a:pt x="1042961" y="92478"/>
                    <a:pt x="1041314" y="94125"/>
                  </a:cubicBezTo>
                  <a:cubicBezTo>
                    <a:pt x="1039667" y="95772"/>
                    <a:pt x="1037433" y="96697"/>
                    <a:pt x="1035104" y="96697"/>
                  </a:cubicBezTo>
                  <a:lnTo>
                    <a:pt x="8783" y="96697"/>
                  </a:lnTo>
                  <a:cubicBezTo>
                    <a:pt x="3932" y="96697"/>
                    <a:pt x="0" y="92765"/>
                    <a:pt x="0" y="87914"/>
                  </a:cubicBezTo>
                  <a:lnTo>
                    <a:pt x="0" y="8783"/>
                  </a:lnTo>
                  <a:cubicBezTo>
                    <a:pt x="0" y="6453"/>
                    <a:pt x="925" y="4219"/>
                    <a:pt x="2572" y="2572"/>
                  </a:cubicBezTo>
                  <a:cubicBezTo>
                    <a:pt x="4219" y="925"/>
                    <a:pt x="6453" y="0"/>
                    <a:pt x="87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2" y="-92973"/>
              <a:ext cx="1043887" cy="191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19"/>
                </a:lnSpc>
              </a:pPr>
              <a:r>
                <a:rPr lang="en-US" sz="3299" b="1" spc="164" dirty="0">
                  <a:solidFill>
                    <a:srgbClr val="1C1C3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RAKK RANASINGHE (D/BIT/22/0039)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98839" y="6559978"/>
            <a:ext cx="8090297" cy="56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2800" dirty="0">
                <a:solidFill>
                  <a:srgbClr val="1C1C39"/>
                </a:solidFill>
                <a:latin typeface="Poppins"/>
                <a:ea typeface="Poppins"/>
                <a:cs typeface="Poppins"/>
                <a:sym typeface="Poppins"/>
              </a:rPr>
              <a:t>Supervised By: Mr. RPS </a:t>
            </a:r>
            <a:r>
              <a:rPr lang="en-US" sz="2800" dirty="0" err="1">
                <a:solidFill>
                  <a:srgbClr val="1C1C39"/>
                </a:solidFill>
                <a:latin typeface="Poppins"/>
                <a:ea typeface="Poppins"/>
                <a:cs typeface="Poppins"/>
                <a:sym typeface="Poppins"/>
              </a:rPr>
              <a:t>Kathriarachchi</a:t>
            </a:r>
            <a:endParaRPr lang="en-US" sz="2800" dirty="0">
              <a:solidFill>
                <a:srgbClr val="1C1C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-1580435"/>
            <a:ext cx="21379131" cy="11890044"/>
            <a:chOff x="-204415" y="48240"/>
            <a:chExt cx="795200" cy="455232"/>
          </a:xfrm>
        </p:grpSpPr>
        <p:sp>
          <p:nvSpPr>
            <p:cNvPr id="11" name="Freeform 11"/>
            <p:cNvSpPr/>
            <p:nvPr/>
          </p:nvSpPr>
          <p:spPr>
            <a:xfrm>
              <a:off x="-204415" y="104556"/>
              <a:ext cx="678729" cy="398916"/>
            </a:xfrm>
            <a:custGeom>
              <a:avLst/>
              <a:gdLst/>
              <a:ahLst/>
              <a:cxnLst/>
              <a:rect l="l" t="t" r="r" b="b"/>
              <a:pathLst>
                <a:path w="678729" h="398916">
                  <a:moveTo>
                    <a:pt x="353136" y="392580"/>
                  </a:moveTo>
                  <a:lnTo>
                    <a:pt x="675689" y="16074"/>
                  </a:lnTo>
                  <a:cubicBezTo>
                    <a:pt x="678163" y="13187"/>
                    <a:pt x="678729" y="9123"/>
                    <a:pt x="677140" y="5668"/>
                  </a:cubicBezTo>
                  <a:cubicBezTo>
                    <a:pt x="675551" y="2213"/>
                    <a:pt x="672096" y="0"/>
                    <a:pt x="668293" y="0"/>
                  </a:cubicBezTo>
                  <a:lnTo>
                    <a:pt x="10437" y="0"/>
                  </a:lnTo>
                  <a:cubicBezTo>
                    <a:pt x="6634" y="0"/>
                    <a:pt x="3179" y="2213"/>
                    <a:pt x="1590" y="5668"/>
                  </a:cubicBezTo>
                  <a:cubicBezTo>
                    <a:pt x="0" y="9123"/>
                    <a:pt x="567" y="13187"/>
                    <a:pt x="3041" y="16074"/>
                  </a:cubicBezTo>
                  <a:lnTo>
                    <a:pt x="325594" y="392580"/>
                  </a:lnTo>
                  <a:cubicBezTo>
                    <a:pt x="329039" y="396601"/>
                    <a:pt x="334070" y="398916"/>
                    <a:pt x="339365" y="398916"/>
                  </a:cubicBezTo>
                  <a:cubicBezTo>
                    <a:pt x="344660" y="398916"/>
                    <a:pt x="349691" y="396601"/>
                    <a:pt x="353136" y="392580"/>
                  </a:cubicBezTo>
                  <a:close/>
                </a:path>
              </a:pathLst>
            </a:custGeom>
            <a:solidFill>
              <a:srgbClr val="C7EEFF">
                <a:alpha val="9804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405" y="48240"/>
              <a:ext cx="481380" cy="170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85247" flipH="1" flipV="1">
            <a:off x="-2613455" y="-2205706"/>
            <a:ext cx="16834115" cy="10058384"/>
          </a:xfrm>
          <a:custGeom>
            <a:avLst/>
            <a:gdLst/>
            <a:ahLst/>
            <a:cxnLst/>
            <a:rect l="l" t="t" r="r" b="b"/>
            <a:pathLst>
              <a:path w="16834115" h="10058384">
                <a:moveTo>
                  <a:pt x="16834115" y="10058384"/>
                </a:moveTo>
                <a:lnTo>
                  <a:pt x="0" y="10058384"/>
                </a:lnTo>
                <a:lnTo>
                  <a:pt x="0" y="0"/>
                </a:lnTo>
                <a:lnTo>
                  <a:pt x="16834115" y="0"/>
                </a:lnTo>
                <a:lnTo>
                  <a:pt x="16834115" y="1005838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315758" y="503472"/>
            <a:ext cx="5477811" cy="4640028"/>
            <a:chOff x="0" y="0"/>
            <a:chExt cx="2374900" cy="2011680"/>
          </a:xfrm>
        </p:grpSpPr>
        <p:sp>
          <p:nvSpPr>
            <p:cNvPr id="4" name="Freeform 4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4"/>
              <a:stretch>
                <a:fillRect l="-14979" r="-1497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79506" y="4931878"/>
            <a:ext cx="4602150" cy="3898292"/>
            <a:chOff x="0" y="0"/>
            <a:chExt cx="2374900" cy="2011680"/>
          </a:xfrm>
        </p:grpSpPr>
        <p:sp>
          <p:nvSpPr>
            <p:cNvPr id="6" name="Freeform 6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5"/>
              <a:stretch>
                <a:fillRect t="-31796" b="-3179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079506" y="220010"/>
            <a:ext cx="4947171" cy="4190544"/>
            <a:chOff x="0" y="0"/>
            <a:chExt cx="2374900" cy="2011680"/>
          </a:xfrm>
        </p:grpSpPr>
        <p:sp>
          <p:nvSpPr>
            <p:cNvPr id="8" name="Freeform 8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6"/>
              <a:stretch>
                <a:fillRect l="-6452" r="-64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15401" y="5360008"/>
            <a:ext cx="5178168" cy="4386213"/>
            <a:chOff x="0" y="0"/>
            <a:chExt cx="2374900" cy="2011680"/>
          </a:xfrm>
        </p:grpSpPr>
        <p:sp>
          <p:nvSpPr>
            <p:cNvPr id="10" name="Freeform 10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7"/>
              <a:stretch>
                <a:fillRect l="-29988" r="-299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28911" y="3865601"/>
            <a:ext cx="6000184" cy="2977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39"/>
              </a:lnSpc>
              <a:spcBef>
                <a:spcPct val="0"/>
              </a:spcBef>
            </a:pPr>
            <a:r>
              <a:rPr lang="en-US" sz="85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Familiar </a:t>
            </a:r>
          </a:p>
          <a:p>
            <a:pPr>
              <a:lnSpc>
                <a:spcPts val="12039"/>
              </a:lnSpc>
              <a:spcBef>
                <a:spcPct val="0"/>
              </a:spcBef>
            </a:pPr>
            <a:r>
              <a:rPr lang="en-US" sz="85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with this 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2221015"/>
            <a:ext cx="9724100" cy="712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1C1C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waste collection is essential for cleanliness, sustainability, and community well-being. Challenges such as delays, missed locations, and inefficiencies can strain resources and increase costs. By incorporating real-time tracking, route optimization, and community sharing of reusable items, this system encourages timely pickups, reduces waste, and fosters collaboration among citizens to promote a cleaner, greener environment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83892" y="320917"/>
            <a:ext cx="7537816" cy="93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5999" b="1" dirty="0">
                <a:solidFill>
                  <a:srgbClr val="1C1C39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4F815D9A-FAC6-F107-A42A-A00FDADF5CCB}"/>
              </a:ext>
            </a:extLst>
          </p:cNvPr>
          <p:cNvSpPr/>
          <p:nvPr/>
        </p:nvSpPr>
        <p:spPr>
          <a:xfrm>
            <a:off x="13856286" y="1567587"/>
            <a:ext cx="4191000" cy="2830960"/>
          </a:xfrm>
          <a:custGeom>
            <a:avLst/>
            <a:gdLst/>
            <a:ahLst/>
            <a:cxnLst/>
            <a:rect l="l" t="t" r="r" b="b"/>
            <a:pathLst>
              <a:path w="4798612" h="3592960">
                <a:moveTo>
                  <a:pt x="0" y="0"/>
                </a:moveTo>
                <a:lnTo>
                  <a:pt x="4798612" y="0"/>
                </a:lnTo>
                <a:lnTo>
                  <a:pt x="4798612" y="3592960"/>
                </a:lnTo>
                <a:lnTo>
                  <a:pt x="0" y="3592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5"/>
          <p:cNvSpPr/>
          <p:nvPr/>
        </p:nvSpPr>
        <p:spPr>
          <a:xfrm>
            <a:off x="11031073" y="3159603"/>
            <a:ext cx="5650426" cy="5650426"/>
          </a:xfrm>
          <a:custGeom>
            <a:avLst/>
            <a:gdLst/>
            <a:ahLst/>
            <a:cxnLst/>
            <a:rect l="l" t="t" r="r" b="b"/>
            <a:pathLst>
              <a:path w="5650426" h="5650426">
                <a:moveTo>
                  <a:pt x="0" y="0"/>
                </a:moveTo>
                <a:lnTo>
                  <a:pt x="5650426" y="0"/>
                </a:lnTo>
                <a:lnTo>
                  <a:pt x="5650426" y="5650426"/>
                </a:lnTo>
                <a:lnTo>
                  <a:pt x="0" y="565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5525" y="1028700"/>
            <a:ext cx="8720106" cy="8229600"/>
          </a:xfrm>
          <a:custGeom>
            <a:avLst/>
            <a:gdLst/>
            <a:ahLst/>
            <a:cxnLst/>
            <a:rect l="l" t="t" r="r" b="b"/>
            <a:pathLst>
              <a:path w="8720106" h="8229600">
                <a:moveTo>
                  <a:pt x="0" y="0"/>
                </a:moveTo>
                <a:lnTo>
                  <a:pt x="8720106" y="0"/>
                </a:lnTo>
                <a:lnTo>
                  <a:pt x="87201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30361" y="320917"/>
            <a:ext cx="9416274" cy="988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PROBLEM DOMAIN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161" y="3995753"/>
            <a:ext cx="17370673" cy="496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Inefficient Collection: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Delays, missed pickups, and unoptimized routes increase costs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Real-Time Tracking: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Limits monitoring of bins and vehicles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Reusable Waste Loss: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community sharing discards reusable items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Environmental Risks: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Accumulated waste causes pollution and health hazards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 Public Involvement: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tools for citizen participation</a:t>
            </a:r>
          </a:p>
          <a:p>
            <a:pPr algn="just">
              <a:lnSpc>
                <a:spcPts val="5599"/>
              </a:lnSpc>
            </a:pP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25066" y="2265382"/>
            <a:ext cx="16221495" cy="137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waste collection systems face significant challenges that hinder efficiency and sustainability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9985155" y="6027721"/>
            <a:ext cx="8302845" cy="4960950"/>
          </a:xfrm>
          <a:custGeom>
            <a:avLst/>
            <a:gdLst/>
            <a:ahLst/>
            <a:cxnLst/>
            <a:rect l="l" t="t" r="r" b="b"/>
            <a:pathLst>
              <a:path w="8302845" h="4960950">
                <a:moveTo>
                  <a:pt x="0" y="0"/>
                </a:moveTo>
                <a:lnTo>
                  <a:pt x="8302845" y="0"/>
                </a:lnTo>
                <a:lnTo>
                  <a:pt x="8302845" y="4960950"/>
                </a:lnTo>
                <a:lnTo>
                  <a:pt x="0" y="496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0725419">
            <a:off x="-1117608" y="-104364"/>
            <a:ext cx="8302845" cy="4960950"/>
          </a:xfrm>
          <a:custGeom>
            <a:avLst/>
            <a:gdLst/>
            <a:ahLst/>
            <a:cxnLst/>
            <a:rect l="l" t="t" r="r" b="b"/>
            <a:pathLst>
              <a:path w="8302845" h="4960950">
                <a:moveTo>
                  <a:pt x="0" y="0"/>
                </a:moveTo>
                <a:lnTo>
                  <a:pt x="8302845" y="0"/>
                </a:lnTo>
                <a:lnTo>
                  <a:pt x="8302845" y="4960950"/>
                </a:lnTo>
                <a:lnTo>
                  <a:pt x="0" y="496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C9B1F89-EA79-F031-65DF-823849ED4C1C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209267" y="320917"/>
            <a:ext cx="9869465" cy="988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PROPOSED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196283"/>
            <a:ext cx="16522018" cy="2174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612"/>
              </a:lnSpc>
            </a:pPr>
            <a:r>
              <a:rPr lang="en-US" sz="400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tackle the challenges in waste collection, a comprehensive solution is proposed, integrating advanced technologies and community-driven initiatives to enhance efficiency, sustainability, and public engagement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5406" y="4727521"/>
            <a:ext cx="11304220" cy="4279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IoT-enabled bins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real-time monitoring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route optimization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Mobile/web apps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tracking and reporting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 sharing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reduce waste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truck tracking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</a:t>
            </a:r>
          </a:p>
          <a:p>
            <a:pPr algn="l">
              <a:lnSpc>
                <a:spcPts val="5599"/>
              </a:lnSpc>
            </a:pP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Freeform 10"/>
          <p:cNvSpPr/>
          <p:nvPr/>
        </p:nvSpPr>
        <p:spPr>
          <a:xfrm rot="5400000">
            <a:off x="-1015805" y="6494612"/>
            <a:ext cx="5047479" cy="3015869"/>
          </a:xfrm>
          <a:custGeom>
            <a:avLst/>
            <a:gdLst/>
            <a:ahLst/>
            <a:cxnLst/>
            <a:rect l="l" t="t" r="r" b="b"/>
            <a:pathLst>
              <a:path w="5047479" h="3015869">
                <a:moveTo>
                  <a:pt x="0" y="0"/>
                </a:moveTo>
                <a:lnTo>
                  <a:pt x="5047479" y="0"/>
                </a:lnTo>
                <a:lnTo>
                  <a:pt x="5047479" y="3015869"/>
                </a:lnTo>
                <a:lnTo>
                  <a:pt x="0" y="3015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F2A5BFF-9098-1928-C9A5-98F242CCFA69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B36511AB-7A89-CFDF-3C3E-EF68940A721C}"/>
              </a:ext>
            </a:extLst>
          </p:cNvPr>
          <p:cNvSpPr/>
          <p:nvPr/>
        </p:nvSpPr>
        <p:spPr>
          <a:xfrm>
            <a:off x="11127345" y="4370931"/>
            <a:ext cx="6805249" cy="5371751"/>
          </a:xfrm>
          <a:custGeom>
            <a:avLst/>
            <a:gdLst/>
            <a:ahLst/>
            <a:cxnLst/>
            <a:rect l="l" t="t" r="r" b="b"/>
            <a:pathLst>
              <a:path w="6805249" h="5371751">
                <a:moveTo>
                  <a:pt x="0" y="0"/>
                </a:moveTo>
                <a:lnTo>
                  <a:pt x="6805249" y="0"/>
                </a:lnTo>
                <a:lnTo>
                  <a:pt x="6805249" y="5371751"/>
                </a:lnTo>
                <a:lnTo>
                  <a:pt x="0" y="5371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47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56" y="1146456"/>
            <a:ext cx="7994088" cy="7994088"/>
          </a:xfrm>
          <a:custGeom>
            <a:avLst/>
            <a:gdLst/>
            <a:ahLst/>
            <a:cxnLst/>
            <a:rect l="l" t="t" r="r" b="b"/>
            <a:pathLst>
              <a:path w="7994088" h="7994088">
                <a:moveTo>
                  <a:pt x="0" y="0"/>
                </a:moveTo>
                <a:lnTo>
                  <a:pt x="7994088" y="0"/>
                </a:lnTo>
                <a:lnTo>
                  <a:pt x="7994088" y="7994088"/>
                </a:lnTo>
                <a:lnTo>
                  <a:pt x="0" y="7994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25613" y="1955950"/>
            <a:ext cx="17662387" cy="706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 Gathering: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 waste collection processes, challenges, and user needs with stakeholders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microservices for modular functionalities like tracking, notifications, and reporting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Follow Agile methodology for incremental feature implementation and frequent testing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 user acceptance testing to ensure usability and effectiveness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Deployment and Feedback: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Launch the system, collect feedback, and improve features iteratively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0754" y="323907"/>
            <a:ext cx="6352104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METHODOLOGY</a:t>
            </a:r>
          </a:p>
        </p:txBody>
      </p:sp>
      <p:grpSp>
        <p:nvGrpSpPr>
          <p:cNvPr id="6" name="Group 6"/>
          <p:cNvGrpSpPr/>
          <p:nvPr/>
        </p:nvGrpSpPr>
        <p:grpSpPr>
          <a:xfrm rot="3020431">
            <a:off x="-8616610" y="-3262265"/>
            <a:ext cx="10409832" cy="8027143"/>
            <a:chOff x="0" y="0"/>
            <a:chExt cx="1054063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3" cy="812800"/>
            </a:xfrm>
            <a:custGeom>
              <a:avLst/>
              <a:gdLst/>
              <a:ahLst/>
              <a:cxnLst/>
              <a:rect l="l" t="t" r="r" b="b"/>
              <a:pathLst>
                <a:path w="1054063" h="812800">
                  <a:moveTo>
                    <a:pt x="527031" y="0"/>
                  </a:moveTo>
                  <a:cubicBezTo>
                    <a:pt x="235960" y="0"/>
                    <a:pt x="0" y="181951"/>
                    <a:pt x="0" y="406400"/>
                  </a:cubicBezTo>
                  <a:cubicBezTo>
                    <a:pt x="0" y="630849"/>
                    <a:pt x="235960" y="812800"/>
                    <a:pt x="527031" y="812800"/>
                  </a:cubicBezTo>
                  <a:cubicBezTo>
                    <a:pt x="818103" y="812800"/>
                    <a:pt x="1054063" y="630849"/>
                    <a:pt x="1054063" y="406400"/>
                  </a:cubicBezTo>
                  <a:cubicBezTo>
                    <a:pt x="1054063" y="181951"/>
                    <a:pt x="818103" y="0"/>
                    <a:pt x="527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818" y="47625"/>
              <a:ext cx="856426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FF5E1F24-89D1-4344-C308-C6F3131370B4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5400000">
            <a:off x="-2197363" y="3895494"/>
            <a:ext cx="8206834" cy="5268304"/>
          </a:xfrm>
          <a:custGeom>
            <a:avLst/>
            <a:gdLst/>
            <a:ahLst/>
            <a:cxnLst/>
            <a:rect l="l" t="t" r="r" b="b"/>
            <a:pathLst>
              <a:path w="8206834" h="5268304">
                <a:moveTo>
                  <a:pt x="0" y="0"/>
                </a:moveTo>
                <a:lnTo>
                  <a:pt x="8206834" y="0"/>
                </a:lnTo>
                <a:lnTo>
                  <a:pt x="8206834" y="5268304"/>
                </a:lnTo>
                <a:lnTo>
                  <a:pt x="0" y="526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8" r="-37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3241714" y="320917"/>
            <a:ext cx="11804571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FUNCTIONAL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0493" y="1023787"/>
            <a:ext cx="16509887" cy="7840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endParaRPr dirty="0"/>
          </a:p>
          <a:p>
            <a:pPr marL="1174749" lvl="1" indent="-742950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Waste Collection Monitoring: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bins send real-time data; residents schedule pickups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Community Sharing: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reusable items via the app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Immediate Pickups: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Residents request urgent pickups; drivers get real-time alerts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Route Optimization &amp; Tracking: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and updates efficient routes; displays bin locations and optimized paths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Alerts &amp; Notifications: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updates for users and drivers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Reports &amp; Analytics: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Insights on waste trends and system performance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Management: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accounts, roles, and user activity</a:t>
            </a:r>
          </a:p>
        </p:txBody>
      </p:sp>
      <p:grpSp>
        <p:nvGrpSpPr>
          <p:cNvPr id="6" name="Group 6"/>
          <p:cNvGrpSpPr/>
          <p:nvPr/>
        </p:nvGrpSpPr>
        <p:grpSpPr>
          <a:xfrm rot="3020431">
            <a:off x="14859963" y="-7580937"/>
            <a:ext cx="10088171" cy="1008817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269AD644-79B6-47E7-BBE0-987BCC807845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231F0617-FA9D-EA53-84D6-F2F53DD8D74E}"/>
              </a:ext>
            </a:extLst>
          </p:cNvPr>
          <p:cNvSpPr/>
          <p:nvPr/>
        </p:nvSpPr>
        <p:spPr>
          <a:xfrm>
            <a:off x="5181600" y="2071873"/>
            <a:ext cx="7246986" cy="7241615"/>
          </a:xfrm>
          <a:custGeom>
            <a:avLst/>
            <a:gdLst/>
            <a:ahLst/>
            <a:cxnLst/>
            <a:rect l="l" t="t" r="r" b="b"/>
            <a:pathLst>
              <a:path w="2384980" h="2295543">
                <a:moveTo>
                  <a:pt x="0" y="0"/>
                </a:moveTo>
                <a:lnTo>
                  <a:pt x="2384980" y="0"/>
                </a:lnTo>
                <a:lnTo>
                  <a:pt x="2384980" y="2295544"/>
                </a:lnTo>
                <a:lnTo>
                  <a:pt x="0" y="22955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5400000">
            <a:off x="-4069266" y="3362077"/>
            <a:ext cx="12784741" cy="4766414"/>
          </a:xfrm>
          <a:custGeom>
            <a:avLst/>
            <a:gdLst/>
            <a:ahLst/>
            <a:cxnLst/>
            <a:rect l="l" t="t" r="r" b="b"/>
            <a:pathLst>
              <a:path w="12784741" h="4766414">
                <a:moveTo>
                  <a:pt x="0" y="0"/>
                </a:moveTo>
                <a:lnTo>
                  <a:pt x="12784741" y="0"/>
                </a:lnTo>
                <a:lnTo>
                  <a:pt x="12784741" y="4766414"/>
                </a:lnTo>
                <a:lnTo>
                  <a:pt x="0" y="4766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" t="-51379" b="-92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637747" y="3390900"/>
            <a:ext cx="2445489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Profit Projections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37767" y="320917"/>
            <a:ext cx="1401246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NON -FUNCTIONAL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3000" y="1753766"/>
            <a:ext cx="13914338" cy="618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growth in users, IoT devices, and trucks 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Reliability: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 continuous uptime and system stability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Deliver real-time updates and notifications efficiently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Protect data with encryption and controlled access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User-Friendly: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intuitive and accessible interfaces for all users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1619174-88A0-3E57-7636-E134F89D9324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sym typeface="Canva Sans Bold"/>
              </a:rPr>
              <a:t>08</a:t>
            </a:r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24F0E0D7-EE48-B110-B885-4994EF6D3DEB}"/>
              </a:ext>
            </a:extLst>
          </p:cNvPr>
          <p:cNvSpPr/>
          <p:nvPr/>
        </p:nvSpPr>
        <p:spPr>
          <a:xfrm>
            <a:off x="8839200" y="1753766"/>
            <a:ext cx="8600616" cy="8529547"/>
          </a:xfrm>
          <a:custGeom>
            <a:avLst/>
            <a:gdLst/>
            <a:ahLst/>
            <a:cxnLst/>
            <a:rect l="l" t="t" r="r" b="b"/>
            <a:pathLst>
              <a:path w="7042131" h="7042131">
                <a:moveTo>
                  <a:pt x="0" y="0"/>
                </a:moveTo>
                <a:lnTo>
                  <a:pt x="7042131" y="0"/>
                </a:lnTo>
                <a:lnTo>
                  <a:pt x="7042131" y="7042131"/>
                </a:lnTo>
                <a:lnTo>
                  <a:pt x="0" y="70421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D136-6823-D9DD-A8EF-D13B4603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87DD937-58E6-3F69-B873-5BC2F53B58B4}"/>
              </a:ext>
            </a:extLst>
          </p:cNvPr>
          <p:cNvSpPr txBox="1"/>
          <p:nvPr/>
        </p:nvSpPr>
        <p:spPr>
          <a:xfrm>
            <a:off x="11012461" y="2124699"/>
            <a:ext cx="6134100" cy="4249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Waste Collection System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improves efficiency, reduces costs, and enhances user engagement</a:t>
            </a:r>
            <a:endParaRPr lang="en-US" sz="3999" dirty="0">
              <a:solidFill>
                <a:srgbClr val="1C1C39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4803BF-FBCB-2C37-17E4-8C95B97D8E30}"/>
              </a:ext>
            </a:extLst>
          </p:cNvPr>
          <p:cNvSpPr txBox="1"/>
          <p:nvPr/>
        </p:nvSpPr>
        <p:spPr>
          <a:xfrm>
            <a:off x="6349446" y="320917"/>
            <a:ext cx="8806708" cy="930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5999" b="1" dirty="0">
                <a:solidFill>
                  <a:srgbClr val="1C1C39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AIMS &amp; OBJECTIVES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C22BD3C-D61B-F21B-AC23-5CF9E932EFB9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0631345-313E-D36C-63F8-A9B01E4A6634}"/>
              </a:ext>
            </a:extLst>
          </p:cNvPr>
          <p:cNvSpPr/>
          <p:nvPr/>
        </p:nvSpPr>
        <p:spPr>
          <a:xfrm flipH="1" flipV="1">
            <a:off x="-152400" y="-184076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5F352A7-F93C-B011-B58E-CA7F13B06CE3}"/>
              </a:ext>
            </a:extLst>
          </p:cNvPr>
          <p:cNvSpPr/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F1785A0-C2C9-4765-C88F-8C3C5325340A}"/>
              </a:ext>
            </a:extLst>
          </p:cNvPr>
          <p:cNvSpPr txBox="1"/>
          <p:nvPr/>
        </p:nvSpPr>
        <p:spPr>
          <a:xfrm>
            <a:off x="1066800" y="2124699"/>
            <a:ext cx="8534400" cy="7429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waste bins and trucks in real-time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collection routes using AI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mobile and web apps for user notifications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on-demand waste pickup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share reusable waste items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users on proper waste segregation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citizens report waste-related issues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dirty="0">
              <a:solidFill>
                <a:srgbClr val="1C1C39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92292B-EACE-2EB4-D4FC-A117557194D9}"/>
              </a:ext>
            </a:extLst>
          </p:cNvPr>
          <p:cNvCxnSpPr/>
          <p:nvPr/>
        </p:nvCxnSpPr>
        <p:spPr>
          <a:xfrm>
            <a:off x="10134600" y="1885706"/>
            <a:ext cx="0" cy="7296394"/>
          </a:xfrm>
          <a:prstGeom prst="line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82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0856" y="1627193"/>
            <a:ext cx="14290308" cy="5313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Prototyping: </a:t>
            </a:r>
            <a:r>
              <a:rPr lang="en-US" sz="3999" spc="83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Figma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 (IoT Bin):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ESP32, GPS (NEO-6M), LoRa/BLE, LEDs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Front-end Development: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Flutter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Back-end Development: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Express.js, Google Maps API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Databases: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Firebase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Communication: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ESP-NOW, MQTT, HTTP/HTTPS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Version Control: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Git, GitHub</a:t>
            </a:r>
          </a:p>
        </p:txBody>
      </p:sp>
      <p:sp>
        <p:nvSpPr>
          <p:cNvPr id="3" name="Freeform 3"/>
          <p:cNvSpPr/>
          <p:nvPr/>
        </p:nvSpPr>
        <p:spPr>
          <a:xfrm>
            <a:off x="4893936" y="7068465"/>
            <a:ext cx="1650356" cy="1541020"/>
          </a:xfrm>
          <a:custGeom>
            <a:avLst/>
            <a:gdLst/>
            <a:ahLst/>
            <a:cxnLst/>
            <a:rect l="l" t="t" r="r" b="b"/>
            <a:pathLst>
              <a:path w="1650356" h="1541020">
                <a:moveTo>
                  <a:pt x="0" y="0"/>
                </a:moveTo>
                <a:lnTo>
                  <a:pt x="1650356" y="0"/>
                </a:lnTo>
                <a:lnTo>
                  <a:pt x="1650356" y="1541020"/>
                </a:lnTo>
                <a:lnTo>
                  <a:pt x="0" y="1541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925172" y="6941148"/>
            <a:ext cx="1322653" cy="1642120"/>
          </a:xfrm>
          <a:custGeom>
            <a:avLst/>
            <a:gdLst/>
            <a:ahLst/>
            <a:cxnLst/>
            <a:rect l="l" t="t" r="r" b="b"/>
            <a:pathLst>
              <a:path w="1322653" h="1642120">
                <a:moveTo>
                  <a:pt x="0" y="0"/>
                </a:moveTo>
                <a:lnTo>
                  <a:pt x="1322653" y="0"/>
                </a:lnTo>
                <a:lnTo>
                  <a:pt x="1322653" y="1642120"/>
                </a:lnTo>
                <a:lnTo>
                  <a:pt x="0" y="1642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805291" y="8609485"/>
            <a:ext cx="4431476" cy="1240813"/>
          </a:xfrm>
          <a:custGeom>
            <a:avLst/>
            <a:gdLst/>
            <a:ahLst/>
            <a:cxnLst/>
            <a:rect l="l" t="t" r="r" b="b"/>
            <a:pathLst>
              <a:path w="4431476" h="1240813">
                <a:moveTo>
                  <a:pt x="0" y="0"/>
                </a:moveTo>
                <a:lnTo>
                  <a:pt x="4431477" y="0"/>
                </a:lnTo>
                <a:lnTo>
                  <a:pt x="4431477" y="1240813"/>
                </a:lnTo>
                <a:lnTo>
                  <a:pt x="0" y="1240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037747" y="7962233"/>
            <a:ext cx="4600486" cy="2875304"/>
          </a:xfrm>
          <a:custGeom>
            <a:avLst/>
            <a:gdLst/>
            <a:ahLst/>
            <a:cxnLst/>
            <a:rect l="l" t="t" r="r" b="b"/>
            <a:pathLst>
              <a:path w="4600486" h="2875304">
                <a:moveTo>
                  <a:pt x="0" y="0"/>
                </a:moveTo>
                <a:lnTo>
                  <a:pt x="4600486" y="0"/>
                </a:lnTo>
                <a:lnTo>
                  <a:pt x="4600486" y="2875304"/>
                </a:lnTo>
                <a:lnTo>
                  <a:pt x="0" y="28753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498532" y="7565440"/>
            <a:ext cx="2266584" cy="2088090"/>
          </a:xfrm>
          <a:custGeom>
            <a:avLst/>
            <a:gdLst/>
            <a:ahLst/>
            <a:cxnLst/>
            <a:rect l="l" t="t" r="r" b="b"/>
            <a:pathLst>
              <a:path w="2266584" h="2088090">
                <a:moveTo>
                  <a:pt x="0" y="0"/>
                </a:moveTo>
                <a:lnTo>
                  <a:pt x="2266583" y="0"/>
                </a:lnTo>
                <a:lnTo>
                  <a:pt x="2266583" y="2088090"/>
                </a:lnTo>
                <a:lnTo>
                  <a:pt x="0" y="2088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630414" y="5031387"/>
            <a:ext cx="1257772" cy="1751328"/>
          </a:xfrm>
          <a:custGeom>
            <a:avLst/>
            <a:gdLst/>
            <a:ahLst/>
            <a:cxnLst/>
            <a:rect l="l" t="t" r="r" b="b"/>
            <a:pathLst>
              <a:path w="1257772" h="1751328">
                <a:moveTo>
                  <a:pt x="0" y="0"/>
                </a:moveTo>
                <a:lnTo>
                  <a:pt x="1257772" y="0"/>
                </a:lnTo>
                <a:lnTo>
                  <a:pt x="1257772" y="1751328"/>
                </a:lnTo>
                <a:lnTo>
                  <a:pt x="0" y="17513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372631" y="7962233"/>
            <a:ext cx="1299791" cy="1688040"/>
          </a:xfrm>
          <a:custGeom>
            <a:avLst/>
            <a:gdLst/>
            <a:ahLst/>
            <a:cxnLst/>
            <a:rect l="l" t="t" r="r" b="b"/>
            <a:pathLst>
              <a:path w="1299791" h="1688040">
                <a:moveTo>
                  <a:pt x="0" y="0"/>
                </a:moveTo>
                <a:lnTo>
                  <a:pt x="1299791" y="0"/>
                </a:lnTo>
                <a:lnTo>
                  <a:pt x="1299791" y="1688040"/>
                </a:lnTo>
                <a:lnTo>
                  <a:pt x="0" y="16880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94558" y="3158599"/>
            <a:ext cx="3156146" cy="1440350"/>
          </a:xfrm>
          <a:custGeom>
            <a:avLst/>
            <a:gdLst/>
            <a:ahLst/>
            <a:cxnLst/>
            <a:rect l="l" t="t" r="r" b="b"/>
            <a:pathLst>
              <a:path w="3156146" h="1440350">
                <a:moveTo>
                  <a:pt x="0" y="0"/>
                </a:moveTo>
                <a:lnTo>
                  <a:pt x="3156146" y="0"/>
                </a:lnTo>
                <a:lnTo>
                  <a:pt x="3156146" y="1440350"/>
                </a:lnTo>
                <a:lnTo>
                  <a:pt x="0" y="14403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275796" y="5295127"/>
            <a:ext cx="1773338" cy="1773338"/>
          </a:xfrm>
          <a:custGeom>
            <a:avLst/>
            <a:gdLst/>
            <a:ahLst/>
            <a:cxnLst/>
            <a:rect l="l" t="t" r="r" b="b"/>
            <a:pathLst>
              <a:path w="1773338" h="1773338">
                <a:moveTo>
                  <a:pt x="0" y="0"/>
                </a:moveTo>
                <a:lnTo>
                  <a:pt x="1773338" y="0"/>
                </a:lnTo>
                <a:lnTo>
                  <a:pt x="1773338" y="1773338"/>
                </a:lnTo>
                <a:lnTo>
                  <a:pt x="0" y="177333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831592" y="6097128"/>
            <a:ext cx="1666940" cy="1688040"/>
          </a:xfrm>
          <a:custGeom>
            <a:avLst/>
            <a:gdLst/>
            <a:ahLst/>
            <a:cxnLst/>
            <a:rect l="l" t="t" r="r" b="b"/>
            <a:pathLst>
              <a:path w="1666940" h="1688040">
                <a:moveTo>
                  <a:pt x="0" y="0"/>
                </a:moveTo>
                <a:lnTo>
                  <a:pt x="1666940" y="0"/>
                </a:lnTo>
                <a:lnTo>
                  <a:pt x="1666940" y="1688040"/>
                </a:lnTo>
                <a:lnTo>
                  <a:pt x="0" y="168804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79570" y="7199080"/>
            <a:ext cx="1933485" cy="1126255"/>
          </a:xfrm>
          <a:custGeom>
            <a:avLst/>
            <a:gdLst/>
            <a:ahLst/>
            <a:cxnLst/>
            <a:rect l="l" t="t" r="r" b="b"/>
            <a:pathLst>
              <a:path w="1933485" h="1126255">
                <a:moveTo>
                  <a:pt x="0" y="0"/>
                </a:moveTo>
                <a:lnTo>
                  <a:pt x="1933485" y="0"/>
                </a:lnTo>
                <a:lnTo>
                  <a:pt x="1933485" y="1126255"/>
                </a:lnTo>
                <a:lnTo>
                  <a:pt x="0" y="112625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334000" y="168323"/>
            <a:ext cx="7620000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77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TECHNOLOGIES</a:t>
            </a:r>
          </a:p>
        </p:txBody>
      </p:sp>
      <p:grpSp>
        <p:nvGrpSpPr>
          <p:cNvPr id="16" name="Group 16"/>
          <p:cNvGrpSpPr/>
          <p:nvPr/>
        </p:nvGrpSpPr>
        <p:grpSpPr>
          <a:xfrm rot="3020431">
            <a:off x="16406362" y="-7089290"/>
            <a:ext cx="10088171" cy="10740242"/>
            <a:chOff x="0" y="0"/>
            <a:chExt cx="812800" cy="8653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5337"/>
            </a:xfrm>
            <a:custGeom>
              <a:avLst/>
              <a:gdLst/>
              <a:ahLst/>
              <a:cxnLst/>
              <a:rect l="l" t="t" r="r" b="b"/>
              <a:pathLst>
                <a:path w="812800" h="865337">
                  <a:moveTo>
                    <a:pt x="406400" y="0"/>
                  </a:moveTo>
                  <a:cubicBezTo>
                    <a:pt x="181951" y="0"/>
                    <a:pt x="0" y="193712"/>
                    <a:pt x="0" y="432669"/>
                  </a:cubicBezTo>
                  <a:cubicBezTo>
                    <a:pt x="0" y="671625"/>
                    <a:pt x="181951" y="865337"/>
                    <a:pt x="406400" y="865337"/>
                  </a:cubicBezTo>
                  <a:cubicBezTo>
                    <a:pt x="630849" y="865337"/>
                    <a:pt x="812800" y="671625"/>
                    <a:pt x="812800" y="432669"/>
                  </a:cubicBezTo>
                  <a:cubicBezTo>
                    <a:pt x="812800" y="19371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550"/>
              <a:ext cx="660400" cy="731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676897FE-EF6E-5372-D9B0-0F0E286B6956}"/>
              </a:ext>
            </a:extLst>
          </p:cNvPr>
          <p:cNvSpPr txBox="1"/>
          <p:nvPr/>
        </p:nvSpPr>
        <p:spPr>
          <a:xfrm>
            <a:off x="17180974" y="-160731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sym typeface="Canva Sans Bold"/>
              </a:rPr>
              <a:t>10</a:t>
            </a: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6AE81FE9-C7F4-CDD1-5726-2853E871250F}"/>
              </a:ext>
            </a:extLst>
          </p:cNvPr>
          <p:cNvSpPr/>
          <p:nvPr/>
        </p:nvSpPr>
        <p:spPr>
          <a:xfrm>
            <a:off x="14906926" y="1501694"/>
            <a:ext cx="2726142" cy="1533455"/>
          </a:xfrm>
          <a:custGeom>
            <a:avLst/>
            <a:gdLst/>
            <a:ahLst/>
            <a:cxnLst/>
            <a:rect l="l" t="t" r="r" b="b"/>
            <a:pathLst>
              <a:path w="2726142" h="1533455">
                <a:moveTo>
                  <a:pt x="0" y="0"/>
                </a:moveTo>
                <a:lnTo>
                  <a:pt x="2726141" y="0"/>
                </a:lnTo>
                <a:lnTo>
                  <a:pt x="2726141" y="1533455"/>
                </a:lnTo>
                <a:lnTo>
                  <a:pt x="0" y="153345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390541"/>
              </p:ext>
            </p:extLst>
          </p:nvPr>
        </p:nvGraphicFramePr>
        <p:xfrm>
          <a:off x="228600" y="1181100"/>
          <a:ext cx="17830800" cy="89154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2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6495">
                <a:tc>
                  <a:txBody>
                    <a:bodyPr/>
                    <a:lstStyle/>
                    <a:p>
                      <a:pPr algn="just">
                        <a:lnSpc>
                          <a:spcPts val="433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Focus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Key Findings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Reference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737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IoT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IoT-enabled real-time monitoring reduced overflow risks, improved efficiency, and saved resources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Zeb et al, Haque et al., </a:t>
                      </a:r>
                      <a:r>
                        <a:rPr lang="en-US" sz="3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Folianto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 et al.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Route Optimization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Optimized collection routes, minimized carbon emissions, and reduced fuel consumption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Lozano et al., Mukherjee et al.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Cost Efficiency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Enhanced cost efficiency, reduced operational costs, and saved energy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Mukherjee et al., Lozano et al.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AI &amp; Machine Learning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Improved prediction accuracy and reduced waste transport inefficiencies through AI algorithms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Rutqvist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 et al.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Community Engagement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Encouraged community participation, improved recycling rates, and supported 3R principles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Abd Wahab et al.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85900" y="19350"/>
            <a:ext cx="15316200" cy="999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0"/>
              </a:lnSpc>
              <a:spcBef>
                <a:spcPct val="0"/>
              </a:spcBef>
            </a:pPr>
            <a:r>
              <a:rPr lang="en-US" sz="606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 - SUMMARY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9E1223-C828-A225-C0BA-60499EF9A780}"/>
              </a:ext>
            </a:extLst>
          </p:cNvPr>
          <p:cNvSpPr txBox="1"/>
          <p:nvPr/>
        </p:nvSpPr>
        <p:spPr>
          <a:xfrm>
            <a:off x="17165734" y="-190500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147284"/>
              </p:ext>
            </p:extLst>
          </p:nvPr>
        </p:nvGraphicFramePr>
        <p:xfrm>
          <a:off x="228600" y="889138"/>
          <a:ext cx="17830801" cy="90549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441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0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244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Focus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Key Findings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Reference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851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Cost Reduction &amp; Sustainability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Reduced cleanup costs by 58 million USD and aligned with SDGs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Mager et al.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851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Waste Bin Monitoring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Improved waste bin filling forecasts, reduced overflow situations, and enabled efficient resource use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Morais et al.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851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Recycling &amp; User Interface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Addressed recycling inefficiencies and hazardous material handling through tailored user interfaces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Donny et al.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851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Sustainability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Enhanced traceability and promoted sustainability through smart waste management solutions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Fatimah et al.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8447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Energy Conversion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Highlighted energy conversion methods and cost-effective waste management strategies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Mukherjee et al.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7154082" y="-203342"/>
            <a:ext cx="905319" cy="109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7800" y="0"/>
            <a:ext cx="17216736" cy="10287000"/>
          </a:xfrm>
          <a:custGeom>
            <a:avLst/>
            <a:gdLst/>
            <a:ahLst/>
            <a:cxnLst/>
            <a:rect l="l" t="t" r="r" b="b"/>
            <a:pathLst>
              <a:path w="17216736" h="10287000">
                <a:moveTo>
                  <a:pt x="0" y="0"/>
                </a:moveTo>
                <a:lnTo>
                  <a:pt x="17216736" y="0"/>
                </a:lnTo>
                <a:lnTo>
                  <a:pt x="17216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764714" y="3263728"/>
            <a:ext cx="12758571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6"/>
              </a:lnSpc>
            </a:pPr>
            <a:r>
              <a:rPr lang="en-US" sz="14006" b="1" dirty="0">
                <a:solidFill>
                  <a:srgbClr val="191919"/>
                </a:solidFill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THANK  YOU !</a:t>
            </a: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0C05AE2B-84E0-D28B-B165-78AE73025969}"/>
              </a:ext>
            </a:extLst>
          </p:cNvPr>
          <p:cNvSpPr/>
          <p:nvPr/>
        </p:nvSpPr>
        <p:spPr>
          <a:xfrm>
            <a:off x="63925" y="7620"/>
            <a:ext cx="18452675" cy="10419147"/>
          </a:xfrm>
          <a:custGeom>
            <a:avLst/>
            <a:gdLst/>
            <a:ahLst/>
            <a:cxnLst/>
            <a:rect l="l" t="t" r="r" b="b"/>
            <a:pathLst>
              <a:path w="678729" h="398916">
                <a:moveTo>
                  <a:pt x="353136" y="392580"/>
                </a:moveTo>
                <a:lnTo>
                  <a:pt x="675689" y="16074"/>
                </a:lnTo>
                <a:cubicBezTo>
                  <a:pt x="678163" y="13187"/>
                  <a:pt x="678729" y="9123"/>
                  <a:pt x="677140" y="5668"/>
                </a:cubicBezTo>
                <a:cubicBezTo>
                  <a:pt x="675551" y="2213"/>
                  <a:pt x="672096" y="0"/>
                  <a:pt x="668293" y="0"/>
                </a:cubicBezTo>
                <a:lnTo>
                  <a:pt x="10437" y="0"/>
                </a:lnTo>
                <a:cubicBezTo>
                  <a:pt x="6634" y="0"/>
                  <a:pt x="3179" y="2213"/>
                  <a:pt x="1590" y="5668"/>
                </a:cubicBezTo>
                <a:cubicBezTo>
                  <a:pt x="0" y="9123"/>
                  <a:pt x="567" y="13187"/>
                  <a:pt x="3041" y="16074"/>
                </a:cubicBezTo>
                <a:lnTo>
                  <a:pt x="325594" y="392580"/>
                </a:lnTo>
                <a:cubicBezTo>
                  <a:pt x="329039" y="396601"/>
                  <a:pt x="334070" y="398916"/>
                  <a:pt x="339365" y="398916"/>
                </a:cubicBezTo>
                <a:cubicBezTo>
                  <a:pt x="344660" y="398916"/>
                  <a:pt x="349691" y="396601"/>
                  <a:pt x="353136" y="392580"/>
                </a:cubicBezTo>
                <a:close/>
              </a:path>
            </a:pathLst>
          </a:custGeom>
          <a:solidFill>
            <a:srgbClr val="C7EEFF">
              <a:alpha val="9804"/>
            </a:srgbClr>
          </a:solid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781</Words>
  <Application>Microsoft Office PowerPoint</Application>
  <PresentationFormat>Custom</PresentationFormat>
  <Paragraphs>111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Times New Roman Bold</vt:lpstr>
      <vt:lpstr>Calibri</vt:lpstr>
      <vt:lpstr>Canva Sans Bold</vt:lpstr>
      <vt:lpstr>Aptos</vt:lpstr>
      <vt:lpstr>Helvetica World Bold</vt:lpstr>
      <vt:lpstr>Coco Gothic Bold</vt:lpstr>
      <vt:lpstr>Poppins Bold</vt:lpstr>
      <vt:lpstr>Poppins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IoT-Enabled Smart Waste Collection System with Community Sharing and Real-Time Route Optimization</dc:title>
  <dc:creator>Kebu</dc:creator>
  <cp:lastModifiedBy>Kebuni Ranasinghe</cp:lastModifiedBy>
  <cp:revision>5</cp:revision>
  <dcterms:created xsi:type="dcterms:W3CDTF">2006-08-16T00:00:00Z</dcterms:created>
  <dcterms:modified xsi:type="dcterms:W3CDTF">2025-02-04T18:51:50Z</dcterms:modified>
  <dc:identifier>DAGdcg0dGy8</dc:identifier>
</cp:coreProperties>
</file>