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2" r:id="rId5"/>
    <p:sldId id="268" r:id="rId6"/>
    <p:sldId id="26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814" y="15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buni Ranasinghe" userId="407c0283f34bab45" providerId="LiveId" clId="{03506269-DAD5-4AC6-BF77-67A067748824}"/>
    <pc:docChg chg="modSld">
      <pc:chgData name="Kebuni Ranasinghe" userId="407c0283f34bab45" providerId="LiveId" clId="{03506269-DAD5-4AC6-BF77-67A067748824}" dt="2025-02-04T20:31:50.755" v="7" actId="20577"/>
      <pc:docMkLst>
        <pc:docMk/>
      </pc:docMkLst>
      <pc:sldChg chg="modSp mod">
        <pc:chgData name="Kebuni Ranasinghe" userId="407c0283f34bab45" providerId="LiveId" clId="{03506269-DAD5-4AC6-BF77-67A067748824}" dt="2025-02-04T20:31:30.250" v="1" actId="20577"/>
        <pc:sldMkLst>
          <pc:docMk/>
          <pc:sldMk cId="0" sldId="259"/>
        </pc:sldMkLst>
        <pc:spChg chg="mod">
          <ac:chgData name="Kebuni Ranasinghe" userId="407c0283f34bab45" providerId="LiveId" clId="{03506269-DAD5-4AC6-BF77-67A067748824}" dt="2025-02-04T20:31:30.250" v="1" actId="20577"/>
          <ac:spMkLst>
            <pc:docMk/>
            <pc:sldMk cId="0" sldId="259"/>
            <ac:spMk id="9" creationId="{1C9B1F89-EA79-F031-65DF-823849ED4C1C}"/>
          </ac:spMkLst>
        </pc:spChg>
      </pc:sldChg>
      <pc:sldChg chg="modSp mod">
        <pc:chgData name="Kebuni Ranasinghe" userId="407c0283f34bab45" providerId="LiveId" clId="{03506269-DAD5-4AC6-BF77-67A067748824}" dt="2025-02-04T20:31:37.894" v="3" actId="20577"/>
        <pc:sldMkLst>
          <pc:docMk/>
          <pc:sldMk cId="0" sldId="261"/>
        </pc:sldMkLst>
        <pc:spChg chg="mod">
          <ac:chgData name="Kebuni Ranasinghe" userId="407c0283f34bab45" providerId="LiveId" clId="{03506269-DAD5-4AC6-BF77-67A067748824}" dt="2025-02-04T20:31:37.894" v="3" actId="20577"/>
          <ac:spMkLst>
            <pc:docMk/>
            <pc:sldMk cId="0" sldId="261"/>
            <ac:spMk id="9" creationId="{FF5E1F24-89D1-4344-C308-C6F3131370B4}"/>
          </ac:spMkLst>
        </pc:spChg>
      </pc:sldChg>
      <pc:sldChg chg="modSp mod">
        <pc:chgData name="Kebuni Ranasinghe" userId="407c0283f34bab45" providerId="LiveId" clId="{03506269-DAD5-4AC6-BF77-67A067748824}" dt="2025-02-04T20:31:44.598" v="5" actId="20577"/>
        <pc:sldMkLst>
          <pc:docMk/>
          <pc:sldMk cId="0" sldId="262"/>
        </pc:sldMkLst>
        <pc:spChg chg="mod">
          <ac:chgData name="Kebuni Ranasinghe" userId="407c0283f34bab45" providerId="LiveId" clId="{03506269-DAD5-4AC6-BF77-67A067748824}" dt="2025-02-04T20:31:44.598" v="5" actId="20577"/>
          <ac:spMkLst>
            <pc:docMk/>
            <pc:sldMk cId="0" sldId="262"/>
            <ac:spMk id="9" creationId="{269AD644-79B6-47E7-BBE0-987BCC807845}"/>
          </ac:spMkLst>
        </pc:spChg>
      </pc:sldChg>
      <pc:sldChg chg="modSp mod">
        <pc:chgData name="Kebuni Ranasinghe" userId="407c0283f34bab45" providerId="LiveId" clId="{03506269-DAD5-4AC6-BF77-67A067748824}" dt="2025-02-04T20:31:50.755" v="7" actId="20577"/>
        <pc:sldMkLst>
          <pc:docMk/>
          <pc:sldMk cId="1947842650" sldId="268"/>
        </pc:sldMkLst>
        <pc:spChg chg="mod">
          <ac:chgData name="Kebuni Ranasinghe" userId="407c0283f34bab45" providerId="LiveId" clId="{03506269-DAD5-4AC6-BF77-67A067748824}" dt="2025-02-04T20:31:50.755" v="7" actId="20577"/>
          <ac:spMkLst>
            <pc:docMk/>
            <pc:sldMk cId="1947842650" sldId="268"/>
            <ac:spMk id="9" creationId="{A670B876-F61A-342F-233B-0C0AC68D10E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5A594-A7F4-0289-1C9D-740FD9E07D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292347-9B41-F994-96F5-36BC90312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9BDAE-D78A-67AA-1FF4-C012B9D2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E4585-63D8-9351-8FFC-A19F939D0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43A3A-A0F0-E259-425F-BE0C653DB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6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B0F9-9A10-8F5B-4FF9-EB5987BD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7E592-DE7E-E637-C1D7-B4E61BFB1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97388-B6C0-9334-B1B4-140B8AAB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F48D1-5EEE-809D-2FBF-716538B26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8C39D-F9FB-BC3E-5B96-F13122A1F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5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63D98-5156-34BD-82A9-0955796F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59C4E6-411D-180D-72A9-3657C3A68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930FA-00FF-E2C4-42F7-4D87A794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0B14A-D650-6EEF-062D-D3CB8D361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A4530-B015-69A1-ACA1-F645ED6D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46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7AE3-6AB7-2FAC-FAE9-A97EAD18B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EF23C-FF8F-668F-934F-2807E89AA6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C3C90-0DE8-8409-FAEE-DFEC6869B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B5BBB-8B7B-61C7-D7FF-94A49D78C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9E200-0759-C814-4C57-DAEBDD70E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9C433-5E8C-35AA-6AC1-8447F2D2F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633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46C8B-0EDA-5F0E-2AFD-4777852AB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D138B-8F6E-BA68-F901-47FE0DED9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3F6D01-EEA5-FBA3-4EC7-DAE576178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405E0-E6C8-B6D0-37A7-75799C62B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710041-9D87-120F-492F-764019EE0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50247C-7D8F-D7D3-D201-A34D2C9E4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14F113-30DB-8A81-B4F4-A62C3F88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3E3CC-DBB7-1773-6F00-23831ABD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11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CF97B-81AC-5AE6-88C3-400A9765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F564E8-3CBF-C9B8-9900-A7EA88EBB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F9B71-09B0-5728-40C4-BE5793079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FBD8E-28F9-6CAC-E322-2C8E6792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53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8FAFF1-B053-917F-4460-FFD27E86E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E569A-3FEB-946C-DA91-E75009F6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2F221-8D0B-4DA6-6EDB-E974AA51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51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A114-5637-0D00-9226-4807CAFE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67034-3AF0-EE86-CCDE-DB1A64669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E2355-A9AB-18D0-EE47-7D9065B9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D94F4-CAC4-DE2D-77C8-C554E3452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F0E89-567A-BDA4-E3F4-C9949B95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BB4F6-7053-0732-60FF-574BBCB3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6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BF6C-FFDD-AEA0-8862-8D1DB18C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445CAA-6004-3EB1-10DE-7D6ADAD829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96E539-36E2-478C-8AA7-A5BA3FEAF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8B2E2-33C1-DCE6-8D35-8CA502C29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2F8F7-E5D9-7357-B237-4E84A22E6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E03BC-37A2-0187-8615-90A14D06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890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2AB9C-09CE-2D66-2F64-18F6F628E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CAC66-3A24-751D-38E6-9CC81FF51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3ED41-FADE-2649-77AF-B9C87B25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7FEC1-A79F-7DCE-6CBD-249CC92AE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298D4-62AE-C740-4125-5B6FAC397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101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762788-4F6E-2472-DCA1-49DB9897A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B1D6A-ED2C-8CF5-8FD3-D6BCCFD8B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C6C86-0C15-E63E-E361-B2EBFB83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E20AE-BBC5-F547-FFCA-2841E227A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EE580-3F58-564D-3B13-EEB4BCB0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96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4CE3F-827D-A4A3-E356-BA7DCAD8E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B7460-A745-2E00-753D-D01A37F8C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6A77E5-932C-5E67-6731-D886595D07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F8FBB-01F0-443A-8E3F-913B87E55B06}" type="datetimeFigureOut">
              <a:rPr lang="en-US" smtClean="0"/>
              <a:t>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78834-0349-A7D4-355D-8B6013E5A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89620-C59C-0CFC-5B02-BD8979072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CEB59F-779E-421A-B828-407EA1F3A9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9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004727" y="1525717"/>
            <a:ext cx="9182259" cy="5486400"/>
          </a:xfrm>
          <a:custGeom>
            <a:avLst/>
            <a:gdLst/>
            <a:ahLst/>
            <a:cxnLst/>
            <a:rect l="l" t="t" r="r" b="b"/>
            <a:pathLst>
              <a:path w="13773389" h="8229600">
                <a:moveTo>
                  <a:pt x="0" y="0"/>
                </a:moveTo>
                <a:lnTo>
                  <a:pt x="13773389" y="0"/>
                </a:lnTo>
                <a:lnTo>
                  <a:pt x="1377338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/>
          <p:cNvSpPr/>
          <p:nvPr/>
        </p:nvSpPr>
        <p:spPr>
          <a:xfrm>
            <a:off x="5027766" y="189366"/>
            <a:ext cx="2136451" cy="1611775"/>
          </a:xfrm>
          <a:custGeom>
            <a:avLst/>
            <a:gdLst/>
            <a:ahLst/>
            <a:cxnLst/>
            <a:rect l="l" t="t" r="r" b="b"/>
            <a:pathLst>
              <a:path w="3204677" h="2417662">
                <a:moveTo>
                  <a:pt x="0" y="0"/>
                </a:moveTo>
                <a:lnTo>
                  <a:pt x="3204676" y="0"/>
                </a:lnTo>
                <a:lnTo>
                  <a:pt x="3204676" y="2417663"/>
                </a:lnTo>
                <a:lnTo>
                  <a:pt x="0" y="2417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1044310" y="1930400"/>
            <a:ext cx="10103361" cy="146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000" b="1" dirty="0">
                <a:solidFill>
                  <a:srgbClr val="1C1C3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IOT-ENABLED SMART WASTE COLLECTION SYSTEM WITH COMMUNITY SHARING AND REAL-TIME ROUTE OPTIMIZATION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157627" y="4524379"/>
            <a:ext cx="5876737" cy="1625702"/>
            <a:chOff x="0" y="-192077"/>
            <a:chExt cx="1043887" cy="2887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3887" cy="96697"/>
            </a:xfrm>
            <a:custGeom>
              <a:avLst/>
              <a:gdLst/>
              <a:ahLst/>
              <a:cxnLst/>
              <a:rect l="l" t="t" r="r" b="b"/>
              <a:pathLst>
                <a:path w="1043887" h="96697">
                  <a:moveTo>
                    <a:pt x="8783" y="0"/>
                  </a:moveTo>
                  <a:lnTo>
                    <a:pt x="1035104" y="0"/>
                  </a:lnTo>
                  <a:cubicBezTo>
                    <a:pt x="1039955" y="0"/>
                    <a:pt x="1043887" y="3932"/>
                    <a:pt x="1043887" y="8783"/>
                  </a:cubicBezTo>
                  <a:lnTo>
                    <a:pt x="1043887" y="87914"/>
                  </a:lnTo>
                  <a:cubicBezTo>
                    <a:pt x="1043887" y="90244"/>
                    <a:pt x="1042961" y="92478"/>
                    <a:pt x="1041314" y="94125"/>
                  </a:cubicBezTo>
                  <a:cubicBezTo>
                    <a:pt x="1039667" y="95772"/>
                    <a:pt x="1037433" y="96697"/>
                    <a:pt x="1035104" y="96697"/>
                  </a:cubicBezTo>
                  <a:lnTo>
                    <a:pt x="8783" y="96697"/>
                  </a:lnTo>
                  <a:cubicBezTo>
                    <a:pt x="3932" y="96697"/>
                    <a:pt x="0" y="92765"/>
                    <a:pt x="0" y="87914"/>
                  </a:cubicBezTo>
                  <a:lnTo>
                    <a:pt x="0" y="8783"/>
                  </a:lnTo>
                  <a:cubicBezTo>
                    <a:pt x="0" y="6453"/>
                    <a:pt x="925" y="4219"/>
                    <a:pt x="2572" y="2572"/>
                  </a:cubicBezTo>
                  <a:cubicBezTo>
                    <a:pt x="4219" y="925"/>
                    <a:pt x="6453" y="0"/>
                    <a:pt x="878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2077"/>
              <a:ext cx="1043887" cy="1919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79"/>
                </a:lnSpc>
              </a:pPr>
              <a:r>
                <a:rPr lang="en-US" sz="2199" b="1" spc="109" dirty="0">
                  <a:solidFill>
                    <a:srgbClr val="1C1C3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RAKK RANASINGHE (D/BIT/22/0039)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399224" y="5240115"/>
            <a:ext cx="5393531" cy="365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0"/>
              </a:lnSpc>
              <a:spcBef>
                <a:spcPct val="0"/>
              </a:spcBef>
            </a:pPr>
            <a:r>
              <a:rPr lang="en-US" sz="1867" dirty="0">
                <a:solidFill>
                  <a:srgbClr val="1C1C39"/>
                </a:solidFill>
                <a:latin typeface="Poppins"/>
                <a:ea typeface="Poppins"/>
                <a:cs typeface="Poppins"/>
                <a:sym typeface="Poppins"/>
              </a:rPr>
              <a:t>Supervised By: Mr. RPS </a:t>
            </a:r>
            <a:r>
              <a:rPr lang="en-US" sz="1867" dirty="0" err="1">
                <a:solidFill>
                  <a:srgbClr val="1C1C39"/>
                </a:solidFill>
                <a:latin typeface="Poppins"/>
                <a:ea typeface="Poppins"/>
                <a:cs typeface="Poppins"/>
                <a:sym typeface="Poppins"/>
              </a:rPr>
              <a:t>Kathriarachchi</a:t>
            </a:r>
            <a:endParaRPr lang="en-US" sz="1867" dirty="0">
              <a:solidFill>
                <a:srgbClr val="1C1C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C1B6AC-F5D8-5D24-52FF-C51131D02397}"/>
              </a:ext>
            </a:extLst>
          </p:cNvPr>
          <p:cNvSpPr txBox="1"/>
          <p:nvPr/>
        </p:nvSpPr>
        <p:spPr>
          <a:xfrm>
            <a:off x="2531796" y="3781374"/>
            <a:ext cx="71283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Requesting Ethical Clearance for Municipal Data Collection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00806" y="1005093"/>
            <a:ext cx="5813404" cy="5486400"/>
          </a:xfrm>
          <a:custGeom>
            <a:avLst/>
            <a:gdLst/>
            <a:ahLst/>
            <a:cxnLst/>
            <a:rect l="l" t="t" r="r" b="b"/>
            <a:pathLst>
              <a:path w="8720106" h="8229600">
                <a:moveTo>
                  <a:pt x="0" y="0"/>
                </a:moveTo>
                <a:lnTo>
                  <a:pt x="8720106" y="0"/>
                </a:lnTo>
                <a:lnTo>
                  <a:pt x="87201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"/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TextBox 3"/>
          <p:cNvSpPr txBox="1"/>
          <p:nvPr/>
        </p:nvSpPr>
        <p:spPr>
          <a:xfrm>
            <a:off x="2897879" y="217836"/>
            <a:ext cx="7517781" cy="67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Problem &amp; Justification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 Italics"/>
                <a:cs typeface="Times New Roman" panose="02020603050405020304" pitchFamily="18" charset="0"/>
                <a:sym typeface="Times New Roman Bold Italics"/>
              </a:rPr>
              <a:t> </a:t>
            </a:r>
          </a:p>
        </p:txBody>
      </p:sp>
      <p:sp>
        <p:nvSpPr>
          <p:cNvPr id="7" name="Freeform 7"/>
          <p:cNvSpPr/>
          <p:nvPr/>
        </p:nvSpPr>
        <p:spPr>
          <a:xfrm>
            <a:off x="6656770" y="4018481"/>
            <a:ext cx="5535230" cy="3307300"/>
          </a:xfrm>
          <a:custGeom>
            <a:avLst/>
            <a:gdLst/>
            <a:ahLst/>
            <a:cxnLst/>
            <a:rect l="l" t="t" r="r" b="b"/>
            <a:pathLst>
              <a:path w="8302845" h="4960950">
                <a:moveTo>
                  <a:pt x="0" y="0"/>
                </a:moveTo>
                <a:lnTo>
                  <a:pt x="8302845" y="0"/>
                </a:lnTo>
                <a:lnTo>
                  <a:pt x="8302845" y="4960950"/>
                </a:lnTo>
                <a:lnTo>
                  <a:pt x="0" y="496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8" name="Freeform 8"/>
          <p:cNvSpPr/>
          <p:nvPr/>
        </p:nvSpPr>
        <p:spPr>
          <a:xfrm rot="10725419">
            <a:off x="-968195" y="-83962"/>
            <a:ext cx="5535230" cy="3307300"/>
          </a:xfrm>
          <a:custGeom>
            <a:avLst/>
            <a:gdLst/>
            <a:ahLst/>
            <a:cxnLst/>
            <a:rect l="l" t="t" r="r" b="b"/>
            <a:pathLst>
              <a:path w="8302845" h="4960950">
                <a:moveTo>
                  <a:pt x="0" y="0"/>
                </a:moveTo>
                <a:lnTo>
                  <a:pt x="8302845" y="0"/>
                </a:lnTo>
                <a:lnTo>
                  <a:pt x="8302845" y="4960950"/>
                </a:lnTo>
                <a:lnTo>
                  <a:pt x="0" y="4960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1C9B1F89-EA79-F031-65DF-823849ED4C1C}"/>
              </a:ext>
            </a:extLst>
          </p:cNvPr>
          <p:cNvSpPr txBox="1"/>
          <p:nvPr/>
        </p:nvSpPr>
        <p:spPr>
          <a:xfrm>
            <a:off x="11431041" y="-143610"/>
            <a:ext cx="738017" cy="69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4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F349D9-E851-F5E6-4AC9-58BF0ECDCB9B}"/>
              </a:ext>
            </a:extLst>
          </p:cNvPr>
          <p:cNvSpPr txBox="1"/>
          <p:nvPr/>
        </p:nvSpPr>
        <p:spPr>
          <a:xfrm>
            <a:off x="614692" y="1163850"/>
            <a:ext cx="5481308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Problem: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collection inefficiencies in Sri Lanka,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schedules, lack of real-time tracking, and low public involvement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delays, high costs, overflowing bins, and environmental hazards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12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Unoptimized Routes: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Causes delays and fuel wastage.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Tracking: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Bins and trucks remain unmonitored.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of Reusable Waste: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community-sharing system.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&amp; Health Risks: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Overflowing waste leads to pollution and disease.</a:t>
            </a:r>
          </a:p>
          <a:p>
            <a:pPr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Public Participation: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platform for citizen involvement.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7D97A9-CB6E-5C0D-6343-AB6E2EEDF136}"/>
              </a:ext>
            </a:extLst>
          </p:cNvPr>
          <p:cNvSpPr txBox="1"/>
          <p:nvPr/>
        </p:nvSpPr>
        <p:spPr>
          <a:xfrm>
            <a:off x="6567947" y="1163850"/>
            <a:ext cx="506361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Justification:</a:t>
            </a:r>
          </a:p>
          <a:p>
            <a:pPr>
              <a:spcBef>
                <a:spcPts val="12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integrates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IoT, AI, GIS, and mobile/web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to: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waste collection routes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costs and emissions.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tracking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waste bins and trucks for better responsiveness.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sharing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minimizing unnecessary waste.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 participation via a mobile and web platform.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sustainability by reducing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 overflow and pollution.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56771" y="764304"/>
            <a:ext cx="5329392" cy="5329392"/>
          </a:xfrm>
          <a:custGeom>
            <a:avLst/>
            <a:gdLst/>
            <a:ahLst/>
            <a:cxnLst/>
            <a:rect l="l" t="t" r="r" b="b"/>
            <a:pathLst>
              <a:path w="7994088" h="7994088">
                <a:moveTo>
                  <a:pt x="0" y="0"/>
                </a:moveTo>
                <a:lnTo>
                  <a:pt x="7994088" y="0"/>
                </a:lnTo>
                <a:lnTo>
                  <a:pt x="7994088" y="7994088"/>
                </a:lnTo>
                <a:lnTo>
                  <a:pt x="0" y="7994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2685179" y="206069"/>
            <a:ext cx="7438775" cy="11798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&amp; Testing Process</a:t>
            </a:r>
          </a:p>
          <a:p>
            <a:pPr algn="ctr">
              <a:lnSpc>
                <a:spcPts val="4560"/>
              </a:lnSpc>
              <a:spcBef>
                <a:spcPct val="0"/>
              </a:spcBef>
            </a:pP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Times New Roman Bold Italics"/>
              <a:cs typeface="Times New Roman" panose="02020603050405020304" pitchFamily="18" charset="0"/>
              <a:sym typeface="Times New Roman Bold Italics"/>
            </a:endParaRPr>
          </a:p>
        </p:txBody>
      </p:sp>
      <p:grpSp>
        <p:nvGrpSpPr>
          <p:cNvPr id="6" name="Group 6"/>
          <p:cNvGrpSpPr/>
          <p:nvPr/>
        </p:nvGrpSpPr>
        <p:grpSpPr>
          <a:xfrm rot="3020431">
            <a:off x="-5744407" y="-2174843"/>
            <a:ext cx="6939888" cy="5351429"/>
            <a:chOff x="0" y="0"/>
            <a:chExt cx="1054063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54063" cy="812800"/>
            </a:xfrm>
            <a:custGeom>
              <a:avLst/>
              <a:gdLst/>
              <a:ahLst/>
              <a:cxnLst/>
              <a:rect l="l" t="t" r="r" b="b"/>
              <a:pathLst>
                <a:path w="1054063" h="812800">
                  <a:moveTo>
                    <a:pt x="527031" y="0"/>
                  </a:moveTo>
                  <a:cubicBezTo>
                    <a:pt x="235960" y="0"/>
                    <a:pt x="0" y="181951"/>
                    <a:pt x="0" y="406400"/>
                  </a:cubicBezTo>
                  <a:cubicBezTo>
                    <a:pt x="0" y="630849"/>
                    <a:pt x="235960" y="812800"/>
                    <a:pt x="527031" y="812800"/>
                  </a:cubicBezTo>
                  <a:cubicBezTo>
                    <a:pt x="818103" y="812800"/>
                    <a:pt x="1054063" y="630849"/>
                    <a:pt x="1054063" y="406400"/>
                  </a:cubicBezTo>
                  <a:cubicBezTo>
                    <a:pt x="1054063" y="181951"/>
                    <a:pt x="818103" y="0"/>
                    <a:pt x="5270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2247F4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818" y="47625"/>
              <a:ext cx="856426" cy="688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FF5E1F24-89D1-4344-C308-C6F3131370B4}"/>
              </a:ext>
            </a:extLst>
          </p:cNvPr>
          <p:cNvSpPr txBox="1"/>
          <p:nvPr/>
        </p:nvSpPr>
        <p:spPr>
          <a:xfrm>
            <a:off x="11431041" y="-143610"/>
            <a:ext cx="738017" cy="69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4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72EC11-6504-D28F-80F8-0424110AAA5F}"/>
              </a:ext>
            </a:extLst>
          </p:cNvPr>
          <p:cNvSpPr txBox="1"/>
          <p:nvPr/>
        </p:nvSpPr>
        <p:spPr>
          <a:xfrm>
            <a:off x="936659" y="795974"/>
            <a:ext cx="11163141" cy="470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 Required: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Route details, waste collection schedules, historical waste collection patterns.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Municipal reports, bin location details, and real-time tracking data.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Testing Participants: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Garbage truck drivers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unicipal administrators 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esidential users.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Testing Approach:</a:t>
            </a:r>
          </a:p>
          <a:p>
            <a:pPr marL="342900" marR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Simulated environment using municipal data</a:t>
            </a: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rot="5400000">
            <a:off x="-1464909" y="2596996"/>
            <a:ext cx="5471223" cy="3512203"/>
          </a:xfrm>
          <a:custGeom>
            <a:avLst/>
            <a:gdLst/>
            <a:ahLst/>
            <a:cxnLst/>
            <a:rect l="l" t="t" r="r" b="b"/>
            <a:pathLst>
              <a:path w="8206834" h="5268304">
                <a:moveTo>
                  <a:pt x="0" y="0"/>
                </a:moveTo>
                <a:lnTo>
                  <a:pt x="8206834" y="0"/>
                </a:lnTo>
                <a:lnTo>
                  <a:pt x="8206834" y="5268304"/>
                </a:lnTo>
                <a:lnTo>
                  <a:pt x="0" y="52683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18" r="-3718"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" name="TextBox 2"/>
          <p:cNvSpPr txBox="1"/>
          <p:nvPr/>
        </p:nvSpPr>
        <p:spPr>
          <a:xfrm>
            <a:off x="3454400" y="317703"/>
            <a:ext cx="7869714" cy="476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33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Confidentiality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2704" y="1349023"/>
            <a:ext cx="11006591" cy="4401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 Measures: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Municipal reports and historical data will be anonymized.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will be restricted to authorized personnel only.</a:t>
            </a:r>
          </a:p>
          <a:p>
            <a:pPr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Measures: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applied for storage and transmission.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access levels for different stakeholders.</a:t>
            </a:r>
          </a:p>
          <a:p>
            <a:pPr>
              <a:spcBef>
                <a:spcPts val="12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 data collection from residents; municipal data is used strictly for research purposes.</a:t>
            </a:r>
            <a:endParaRPr lang="en-US" sz="4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6" name="Group 6"/>
          <p:cNvGrpSpPr/>
          <p:nvPr/>
        </p:nvGrpSpPr>
        <p:grpSpPr>
          <a:xfrm rot="3020431">
            <a:off x="9906643" y="-5053958"/>
            <a:ext cx="6725447" cy="672544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2247F4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269AD644-79B6-47E7-BBE0-987BCC807845}"/>
              </a:ext>
            </a:extLst>
          </p:cNvPr>
          <p:cNvSpPr txBox="1"/>
          <p:nvPr/>
        </p:nvSpPr>
        <p:spPr>
          <a:xfrm>
            <a:off x="11431041" y="-143610"/>
            <a:ext cx="738017" cy="69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4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231F0617-FA9D-EA53-84D6-F2F53DD8D74E}"/>
              </a:ext>
            </a:extLst>
          </p:cNvPr>
          <p:cNvSpPr/>
          <p:nvPr/>
        </p:nvSpPr>
        <p:spPr>
          <a:xfrm>
            <a:off x="3454400" y="1381249"/>
            <a:ext cx="4831324" cy="4827743"/>
          </a:xfrm>
          <a:custGeom>
            <a:avLst/>
            <a:gdLst/>
            <a:ahLst/>
            <a:cxnLst/>
            <a:rect l="l" t="t" r="r" b="b"/>
            <a:pathLst>
              <a:path w="2384980" h="2295543">
                <a:moveTo>
                  <a:pt x="0" y="0"/>
                </a:moveTo>
                <a:lnTo>
                  <a:pt x="2384980" y="0"/>
                </a:lnTo>
                <a:lnTo>
                  <a:pt x="2384980" y="2295544"/>
                </a:lnTo>
                <a:lnTo>
                  <a:pt x="0" y="22955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alphaModFix amt="15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83C38-788D-3E9E-DC3C-F7C8DE0BB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9AB7D4-AAF9-2CC3-F6F2-6C1A607CACB4}"/>
              </a:ext>
            </a:extLst>
          </p:cNvPr>
          <p:cNvSpPr/>
          <p:nvPr/>
        </p:nvSpPr>
        <p:spPr>
          <a:xfrm>
            <a:off x="5656771" y="764304"/>
            <a:ext cx="5329392" cy="5329392"/>
          </a:xfrm>
          <a:custGeom>
            <a:avLst/>
            <a:gdLst/>
            <a:ahLst/>
            <a:cxnLst/>
            <a:rect l="l" t="t" r="r" b="b"/>
            <a:pathLst>
              <a:path w="7994088" h="7994088">
                <a:moveTo>
                  <a:pt x="0" y="0"/>
                </a:moveTo>
                <a:lnTo>
                  <a:pt x="7994088" y="0"/>
                </a:lnTo>
                <a:lnTo>
                  <a:pt x="7994088" y="7994088"/>
                </a:lnTo>
                <a:lnTo>
                  <a:pt x="0" y="79940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0692AAE-AC89-06A5-E9C6-DF34BAD4DA02}"/>
              </a:ext>
            </a:extLst>
          </p:cNvPr>
          <p:cNvSpPr txBox="1"/>
          <p:nvPr/>
        </p:nvSpPr>
        <p:spPr>
          <a:xfrm>
            <a:off x="1698959" y="338285"/>
            <a:ext cx="9411212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Ethical Approval Request &amp; Conclusion</a:t>
            </a:r>
            <a:endParaRPr lang="en-US" sz="4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 Bold Italics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9AF3A7F-74EF-C0EB-A3E4-D8D16C1C4BD3}"/>
              </a:ext>
            </a:extLst>
          </p:cNvPr>
          <p:cNvGrpSpPr/>
          <p:nvPr/>
        </p:nvGrpSpPr>
        <p:grpSpPr>
          <a:xfrm rot="3020431">
            <a:off x="-5744407" y="-2174843"/>
            <a:ext cx="6939888" cy="5351429"/>
            <a:chOff x="0" y="0"/>
            <a:chExt cx="1054063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FC9E69C-DF19-C119-CA82-FE19E9F1DC48}"/>
                </a:ext>
              </a:extLst>
            </p:cNvPr>
            <p:cNvSpPr/>
            <p:nvPr/>
          </p:nvSpPr>
          <p:spPr>
            <a:xfrm>
              <a:off x="0" y="0"/>
              <a:ext cx="1054063" cy="812800"/>
            </a:xfrm>
            <a:custGeom>
              <a:avLst/>
              <a:gdLst/>
              <a:ahLst/>
              <a:cxnLst/>
              <a:rect l="l" t="t" r="r" b="b"/>
              <a:pathLst>
                <a:path w="1054063" h="812800">
                  <a:moveTo>
                    <a:pt x="527031" y="0"/>
                  </a:moveTo>
                  <a:cubicBezTo>
                    <a:pt x="235960" y="0"/>
                    <a:pt x="0" y="181951"/>
                    <a:pt x="0" y="406400"/>
                  </a:cubicBezTo>
                  <a:cubicBezTo>
                    <a:pt x="0" y="630849"/>
                    <a:pt x="235960" y="812800"/>
                    <a:pt x="527031" y="812800"/>
                  </a:cubicBezTo>
                  <a:cubicBezTo>
                    <a:pt x="818103" y="812800"/>
                    <a:pt x="1054063" y="630849"/>
                    <a:pt x="1054063" y="406400"/>
                  </a:cubicBezTo>
                  <a:cubicBezTo>
                    <a:pt x="1054063" y="181951"/>
                    <a:pt x="818103" y="0"/>
                    <a:pt x="52703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2247F4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BE5417F-4F66-5DB8-ED2F-D4A4C154068A}"/>
                </a:ext>
              </a:extLst>
            </p:cNvPr>
            <p:cNvSpPr txBox="1"/>
            <p:nvPr/>
          </p:nvSpPr>
          <p:spPr>
            <a:xfrm>
              <a:off x="98818" y="47625"/>
              <a:ext cx="856426" cy="688975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A670B876-F61A-342F-233B-0C0AC68D10EA}"/>
              </a:ext>
            </a:extLst>
          </p:cNvPr>
          <p:cNvSpPr txBox="1"/>
          <p:nvPr/>
        </p:nvSpPr>
        <p:spPr>
          <a:xfrm>
            <a:off x="11431041" y="-143610"/>
            <a:ext cx="738017" cy="69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4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281DE6-B9FE-1E7F-F94D-9AC294EDAAD0}"/>
              </a:ext>
            </a:extLst>
          </p:cNvPr>
          <p:cNvSpPr txBox="1"/>
          <p:nvPr/>
        </p:nvSpPr>
        <p:spPr>
          <a:xfrm>
            <a:off x="822995" y="1300632"/>
            <a:ext cx="11163141" cy="4738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Why is ethical approval needed?</a:t>
            </a:r>
          </a:p>
          <a:p>
            <a:pPr marL="342900" marR="0" indent="-34290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Ensures responsible use of municipal data and privacy protection.</a:t>
            </a:r>
          </a:p>
          <a:p>
            <a:pPr marL="342900" marR="0" indent="-34290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Verifies compliance with ethical standards for testing with municipal stakeholders.</a:t>
            </a:r>
          </a:p>
          <a:p>
            <a:pPr marL="0" marR="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US" sz="24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Final Request:</a:t>
            </a:r>
          </a:p>
          <a:p>
            <a:pPr marL="342900" marR="0" indent="-34290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Seeking approval to access municipal reports, route data, and waste collection schedules.</a:t>
            </a:r>
          </a:p>
          <a:p>
            <a:pPr marL="342900" marR="0" indent="-342900">
              <a:lnSpc>
                <a:spcPct val="115000"/>
              </a:lnSpc>
              <a:spcBef>
                <a:spcPts val="12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Testing will be conducted responsibly with garbage truck drivers, municipal admins, and residents.</a:t>
            </a:r>
          </a:p>
        </p:txBody>
      </p:sp>
    </p:spTree>
    <p:extLst>
      <p:ext uri="{BB962C8B-B14F-4D97-AF65-F5344CB8AC3E}">
        <p14:creationId xmlns:p14="http://schemas.microsoft.com/office/powerpoint/2010/main" val="1947842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65200" y="0"/>
            <a:ext cx="11477824" cy="6858000"/>
          </a:xfrm>
          <a:custGeom>
            <a:avLst/>
            <a:gdLst/>
            <a:ahLst/>
            <a:cxnLst/>
            <a:rect l="l" t="t" r="r" b="b"/>
            <a:pathLst>
              <a:path w="17216736" h="10287000">
                <a:moveTo>
                  <a:pt x="0" y="0"/>
                </a:moveTo>
                <a:lnTo>
                  <a:pt x="17216736" y="0"/>
                </a:lnTo>
                <a:lnTo>
                  <a:pt x="172167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TextBox 3"/>
          <p:cNvSpPr txBox="1"/>
          <p:nvPr/>
        </p:nvSpPr>
        <p:spPr>
          <a:xfrm>
            <a:off x="1843143" y="2175819"/>
            <a:ext cx="8505714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338"/>
              </a:lnSpc>
            </a:pPr>
            <a:r>
              <a:rPr lang="en-US" sz="9338" b="1" dirty="0">
                <a:solidFill>
                  <a:srgbClr val="191919"/>
                </a:solidFill>
                <a:latin typeface="Times New Roman" panose="02020603050405020304" pitchFamily="18" charset="0"/>
                <a:ea typeface="TS Qamus Bold"/>
                <a:cs typeface="Times New Roman" panose="02020603050405020304" pitchFamily="18" charset="0"/>
                <a:sym typeface="TS Qamus Bold"/>
              </a:rPr>
              <a:t>THANK  YOU !</a:t>
            </a:r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0C05AE2B-84E0-D28B-B165-78AE73025969}"/>
              </a:ext>
            </a:extLst>
          </p:cNvPr>
          <p:cNvSpPr/>
          <p:nvPr/>
        </p:nvSpPr>
        <p:spPr>
          <a:xfrm>
            <a:off x="42617" y="5080"/>
            <a:ext cx="12301783" cy="6946098"/>
          </a:xfrm>
          <a:custGeom>
            <a:avLst/>
            <a:gdLst/>
            <a:ahLst/>
            <a:cxnLst/>
            <a:rect l="l" t="t" r="r" b="b"/>
            <a:pathLst>
              <a:path w="678729" h="398916">
                <a:moveTo>
                  <a:pt x="353136" y="392580"/>
                </a:moveTo>
                <a:lnTo>
                  <a:pt x="675689" y="16074"/>
                </a:lnTo>
                <a:cubicBezTo>
                  <a:pt x="678163" y="13187"/>
                  <a:pt x="678729" y="9123"/>
                  <a:pt x="677140" y="5668"/>
                </a:cubicBezTo>
                <a:cubicBezTo>
                  <a:pt x="675551" y="2213"/>
                  <a:pt x="672096" y="0"/>
                  <a:pt x="668293" y="0"/>
                </a:cubicBezTo>
                <a:lnTo>
                  <a:pt x="10437" y="0"/>
                </a:lnTo>
                <a:cubicBezTo>
                  <a:pt x="6634" y="0"/>
                  <a:pt x="3179" y="2213"/>
                  <a:pt x="1590" y="5668"/>
                </a:cubicBezTo>
                <a:cubicBezTo>
                  <a:pt x="0" y="9123"/>
                  <a:pt x="567" y="13187"/>
                  <a:pt x="3041" y="16074"/>
                </a:cubicBezTo>
                <a:lnTo>
                  <a:pt x="325594" y="392580"/>
                </a:lnTo>
                <a:cubicBezTo>
                  <a:pt x="329039" y="396601"/>
                  <a:pt x="334070" y="398916"/>
                  <a:pt x="339365" y="398916"/>
                </a:cubicBezTo>
                <a:cubicBezTo>
                  <a:pt x="344660" y="398916"/>
                  <a:pt x="349691" y="396601"/>
                  <a:pt x="353136" y="392580"/>
                </a:cubicBezTo>
                <a:close/>
              </a:path>
            </a:pathLst>
          </a:custGeom>
          <a:solidFill>
            <a:srgbClr val="C7EEFF">
              <a:alpha val="9804"/>
            </a:srgbClr>
          </a:solidFill>
        </p:spPr>
        <p:txBody>
          <a:bodyPr/>
          <a:lstStyle/>
          <a:p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384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Aptos</vt:lpstr>
      <vt:lpstr>Aptos Display</vt:lpstr>
      <vt:lpstr>Arial</vt:lpstr>
      <vt:lpstr>Cambria</vt:lpstr>
      <vt:lpstr>Canva Sans Bold</vt:lpstr>
      <vt:lpstr>Coco Gothic Bold</vt:lpstr>
      <vt:lpstr>Poppins</vt:lpstr>
      <vt:lpstr>Poppins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Kebuni Ranasinghe</dc:creator>
  <cp:lastModifiedBy>Kebuni Ranasinghe</cp:lastModifiedBy>
  <cp:revision>1</cp:revision>
  <dcterms:created xsi:type="dcterms:W3CDTF">2025-02-04T17:00:12Z</dcterms:created>
  <dcterms:modified xsi:type="dcterms:W3CDTF">2025-02-04T20:31:53Z</dcterms:modified>
</cp:coreProperties>
</file>