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QbdVSRuhAfXo0RC36nfnCi4x/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00E7FA-E147-4610-839F-84F390696780}">
  <a:tblStyle styleId="{B500E7FA-E147-4610-839F-84F390696780}" styleName="Table_0">
    <a:wholeTbl>
      <a:tcTxStyle b="off" i="off">
        <a:font>
          <a:latin typeface="Calibri"/>
          <a:ea typeface="Calibri"/>
          <a:cs typeface="Calibri"/>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20000"/>
            </a:schemeClr>
          </a:solidFill>
        </a:fill>
      </a:tcStyle>
    </a:band1H>
    <a:band2H>
      <a:tcTxStyle/>
    </a:band2H>
    <a:band1V>
      <a:tcTxStyle/>
      <a:tcStyle>
        <a:fill>
          <a:solidFill>
            <a:schemeClr val="accent5">
              <a:alpha val="20000"/>
            </a:schemeClr>
          </a:solidFill>
        </a:fill>
      </a:tcStyle>
    </a:band1V>
    <a:band2V>
      <a:tcTxStyle/>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xpress.js"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Urbanization and population growth have made waste collection a huge challenge.</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Traditional waste collection is often inefficient and costly, leading to overflowing bins and unnecessary disposal of reusable items.</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In Sri Lanka, there is no integrated system that combines technology and community participation.</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This research introduces </a:t>
            </a:r>
            <a:r>
              <a:rPr b="1" lang="en-US">
                <a:latin typeface="Arial"/>
                <a:ea typeface="Arial"/>
                <a:cs typeface="Arial"/>
                <a:sym typeface="Arial"/>
              </a:rPr>
              <a:t>Clea-Ro</a:t>
            </a:r>
            <a:r>
              <a:rPr lang="en-US">
                <a:latin typeface="Arial"/>
                <a:ea typeface="Arial"/>
                <a:cs typeface="Arial"/>
                <a:sym typeface="Arial"/>
              </a:rPr>
              <a:t>, a Smart Waste Collection System that integrates IoT-enabled bins, algorithm-based route optimization, and a community sharing platform for reusable items.</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Its main contribution is to make waste management efficient, citizen-friendly, and environmentally sustainable.</a:t>
            </a:r>
            <a:endParaRPr/>
          </a:p>
        </p:txBody>
      </p:sp>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research was guided by four key questions: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How can modern technologies improve efficiency in urban waste collection?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What role does citizen participation play in reducing waste at the source?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Can a combined system of smart technologies and sharing create a sustainable model for developing regions?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a:latin typeface="Arial"/>
                <a:ea typeface="Arial"/>
                <a:cs typeface="Arial"/>
                <a:sym typeface="Arial"/>
              </a:rPr>
              <a:t>How does user-friendly design influence participation and accessibility?</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The aim of this study was to develop an integrated smart waste collection system that improves operational efficiency, encourages item reuse, and strengthens community participation using modern technologies, while promoting long-term sustainability</a:t>
            </a:r>
            <a:endParaRPr/>
          </a:p>
        </p:txBody>
      </p:sp>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achieve this aim, the study focused on:</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Identifying inefficiencies in conventional waste collection, such as irregular pickups and high costs.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Reviewing modern technologies like IoT-enabled bins, route optimization, and mobile/web apps.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Introducing community sharing to reduce waste before disposal.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Designing an integrated framework that connects IoT bins, resident and driver apps, and a web dashboard for administrators.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a:latin typeface="Arial"/>
                <a:ea typeface="Arial"/>
                <a:cs typeface="Arial"/>
                <a:sym typeface="Arial"/>
              </a:rPr>
              <a:t>Promoting collaboration between citizens, drivers, and authorities to create a citizen-friendly and sustainable system</a:t>
            </a:r>
            <a:endParaRPr/>
          </a:p>
        </p:txBody>
      </p:sp>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1. Smart Waste Collection Technologies:</a:t>
            </a:r>
            <a:br>
              <a:rPr b="1" lang="en-US" sz="1100">
                <a:latin typeface="Arial"/>
                <a:ea typeface="Arial"/>
                <a:cs typeface="Arial"/>
                <a:sym typeface="Arial"/>
              </a:rPr>
            </a:br>
            <a:r>
              <a:rPr lang="en-US" sz="1100">
                <a:latin typeface="Arial"/>
                <a:ea typeface="Arial"/>
                <a:cs typeface="Arial"/>
                <a:sym typeface="Arial"/>
              </a:rPr>
              <a:t> IoT sensors, smart bins, and GPS tracking improve bin monitoring, route planning, and fuel efficiency. Apps for scheduling and notifications boost engagement. However, most systems focus only on technology and lack community involvement or real-world deployment.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2. Community Sharing in Waste Collection:</a:t>
            </a:r>
            <a:br>
              <a:rPr b="1" lang="en-US" sz="1100">
                <a:latin typeface="Arial"/>
                <a:ea typeface="Arial"/>
                <a:cs typeface="Arial"/>
                <a:sym typeface="Arial"/>
              </a:rPr>
            </a:br>
            <a:r>
              <a:rPr lang="en-US" sz="1100">
                <a:latin typeface="Arial"/>
                <a:ea typeface="Arial"/>
                <a:cs typeface="Arial"/>
                <a:sym typeface="Arial"/>
              </a:rPr>
              <a:t> Web and mobile platforms, online marketplaces, and incentive systems encourage reuse and recycling. They raise awareness and promote sharing, but mainly target economic incentives rather than daily household waste.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3. Combining Technology and Community:</a:t>
            </a:r>
            <a:br>
              <a:rPr b="1" lang="en-US" sz="1100">
                <a:latin typeface="Arial"/>
                <a:ea typeface="Arial"/>
                <a:cs typeface="Arial"/>
                <a:sym typeface="Arial"/>
              </a:rPr>
            </a:br>
            <a:r>
              <a:rPr lang="en-US" sz="1100">
                <a:latin typeface="Arial"/>
                <a:ea typeface="Arial"/>
                <a:cs typeface="Arial"/>
                <a:sym typeface="Arial"/>
              </a:rPr>
              <a:t> Some studies integrate IoT, routing, and sharing, improving participation and recycling. Yet, they remain limited, missing full integration of IoT, AI, routing, community sharing, multilingual support, and citizen-friendly features.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So,</a:t>
            </a:r>
            <a:br>
              <a:rPr b="1" lang="en-US" sz="1100">
                <a:latin typeface="Arial"/>
                <a:ea typeface="Arial"/>
                <a:cs typeface="Arial"/>
                <a:sym typeface="Arial"/>
              </a:rPr>
            </a:br>
            <a:r>
              <a:rPr lang="en-US" sz="1100">
                <a:latin typeface="Arial"/>
                <a:ea typeface="Arial"/>
                <a:cs typeface="Arial"/>
                <a:sym typeface="Arial"/>
              </a:rPr>
              <a:t> There is a need for a fully integrated system combining technology, route optimization, and community participation—addressing the gaps identified in previous research.</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In Methodology, U</a:t>
            </a:r>
            <a:r>
              <a:rPr lang="en-US"/>
              <a:t>sed the System Development Life Cycle.</a:t>
            </a:r>
            <a:endParaRPr/>
          </a:p>
          <a:p>
            <a:pPr indent="0" lvl="0" marL="0" rtl="0" algn="l">
              <a:spcBef>
                <a:spcPts val="0"/>
              </a:spcBef>
              <a:spcAft>
                <a:spcPts val="0"/>
              </a:spcAft>
              <a:buClr>
                <a:schemeClr val="dk1"/>
              </a:buClr>
              <a:buSzPts val="1100"/>
              <a:buFont typeface="Arial"/>
              <a:buNone/>
            </a:pPr>
            <a:r>
              <a:rPr lang="en-US"/>
              <a:t>In the planning phase, identified inefficiencies and carried out a feasibility study.</a:t>
            </a:r>
            <a:endParaRPr/>
          </a:p>
          <a:p>
            <a:pPr indent="0" lvl="0" marL="0" rtl="0" algn="l">
              <a:spcBef>
                <a:spcPts val="0"/>
              </a:spcBef>
              <a:spcAft>
                <a:spcPts val="0"/>
              </a:spcAft>
              <a:buClr>
                <a:schemeClr val="dk1"/>
              </a:buClr>
              <a:buSzPts val="1100"/>
              <a:buFont typeface="Arial"/>
              <a:buNone/>
            </a:pPr>
            <a:r>
              <a:rPr lang="en-US"/>
              <a:t>Then gathered requirements by reviewing over 50 papers and conducting interviews with municipal councils, drivers, and residents and shop owners</a:t>
            </a:r>
            <a:endParaRPr/>
          </a:p>
          <a:p>
            <a:pPr indent="0" lvl="0" marL="0" rtl="0" algn="l">
              <a:spcBef>
                <a:spcPts val="0"/>
              </a:spcBef>
              <a:spcAft>
                <a:spcPts val="0"/>
              </a:spcAft>
              <a:buNone/>
            </a:pPr>
            <a:r>
              <a:rPr lang="en-US"/>
              <a:t>This helped understand needs like multilingual support, real-time notifications, and sharing features.</a:t>
            </a:r>
            <a:endParaRPr/>
          </a:p>
        </p:txBody>
      </p:sp>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system has three key components: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A </a:t>
            </a:r>
            <a:r>
              <a:rPr b="1" lang="en-US" sz="1100">
                <a:latin typeface="Arial"/>
                <a:ea typeface="Arial"/>
                <a:cs typeface="Arial"/>
                <a:sym typeface="Arial"/>
              </a:rPr>
              <a:t>Web Dashboard</a:t>
            </a:r>
            <a:r>
              <a:rPr lang="en-US" sz="1100">
                <a:latin typeface="Arial"/>
                <a:ea typeface="Arial"/>
                <a:cs typeface="Arial"/>
                <a:sym typeface="Arial"/>
              </a:rPr>
              <a:t> for admins to monitor bins, manage trucks, and schedule pickups.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 </a:t>
            </a:r>
            <a:r>
              <a:rPr b="1" lang="en-US" sz="1100">
                <a:latin typeface="Arial"/>
                <a:ea typeface="Arial"/>
                <a:cs typeface="Arial"/>
                <a:sym typeface="Arial"/>
              </a:rPr>
              <a:t>Mobile App</a:t>
            </a:r>
            <a:r>
              <a:rPr lang="en-US" sz="1100">
                <a:latin typeface="Arial"/>
                <a:ea typeface="Arial"/>
                <a:cs typeface="Arial"/>
                <a:sym typeface="Arial"/>
              </a:rPr>
              <a:t> for residents and drivers of garbage trucks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IoT-enabled </a:t>
            </a:r>
            <a:r>
              <a:rPr b="1" lang="en-US" sz="1100">
                <a:latin typeface="Arial"/>
                <a:ea typeface="Arial"/>
                <a:cs typeface="Arial"/>
                <a:sym typeface="Arial"/>
              </a:rPr>
              <a:t>Smart Bins</a:t>
            </a:r>
            <a:r>
              <a:rPr lang="en-US" sz="1100">
                <a:latin typeface="Arial"/>
                <a:ea typeface="Arial"/>
                <a:cs typeface="Arial"/>
                <a:sym typeface="Arial"/>
              </a:rPr>
              <a:t> with sensors and GPS to send real-time data. This 3 section combing together and providing smart framework.</a:t>
            </a:r>
            <a:endParaRPr/>
          </a:p>
        </p:txBody>
      </p:sp>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So in Implementation, U</a:t>
            </a:r>
            <a:r>
              <a:rPr lang="en-US"/>
              <a:t>sed ESP32 boards for IoT bins, Firebase for data storage, React for the admin panel, and Flutter for the app and Node js and </a:t>
            </a:r>
            <a:r>
              <a:rPr lang="en-US" u="sng">
                <a:solidFill>
                  <a:schemeClr val="hlink"/>
                </a:solidFill>
                <a:hlinkClick r:id="rId2"/>
              </a:rPr>
              <a:t>Express.js</a:t>
            </a:r>
            <a:r>
              <a:rPr lang="en-US"/>
              <a:t> for backend with rest APIs.</a:t>
            </a:r>
            <a:endParaRPr/>
          </a:p>
          <a:p>
            <a:pPr indent="0" lvl="0" marL="0" rtl="0" algn="l">
              <a:spcBef>
                <a:spcPts val="0"/>
              </a:spcBef>
              <a:spcAft>
                <a:spcPts val="0"/>
              </a:spcAft>
              <a:buNone/>
            </a:pPr>
            <a:r>
              <a:rPr lang="en-US"/>
              <a:t>In Testing conducted unit, integration, and interface tests to ensure the system works reliably — from sensor accuracy to user interface usability.</a:t>
            </a:r>
            <a:endParaRPr/>
          </a:p>
        </p:txBody>
      </p:sp>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system successfully solved key inefficiencies such as irregular pickups, overflowing bins, and low citizen participation.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With </a:t>
            </a:r>
            <a:r>
              <a:rPr b="1" lang="en-US" sz="1100">
                <a:latin typeface="Arial"/>
                <a:ea typeface="Arial"/>
                <a:cs typeface="Arial"/>
                <a:sym typeface="Arial"/>
              </a:rPr>
              <a:t>real-time monitoring</a:t>
            </a:r>
            <a:r>
              <a:rPr lang="en-US" sz="1100">
                <a:latin typeface="Arial"/>
                <a:ea typeface="Arial"/>
                <a:cs typeface="Arial"/>
                <a:sym typeface="Arial"/>
              </a:rPr>
              <a:t>, bins send fill-level data to the server, which is displayed on the dashboard and app. Residents can request pickups before bins overflow.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admin dashboard</a:t>
            </a:r>
            <a:r>
              <a:rPr lang="en-US" sz="1100">
                <a:latin typeface="Arial"/>
                <a:ea typeface="Arial"/>
                <a:cs typeface="Arial"/>
                <a:sym typeface="Arial"/>
              </a:rPr>
              <a:t> allows registering and tracking bins, assigning routes, monitoring trucks, and managing feedback — with Google Maps providing optimized routing.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resident app</a:t>
            </a:r>
            <a:r>
              <a:rPr lang="en-US" sz="1100">
                <a:latin typeface="Arial"/>
                <a:ea typeface="Arial"/>
                <a:cs typeface="Arial"/>
                <a:sym typeface="Arial"/>
              </a:rPr>
              <a:t> supports Sinhala, Tamil, and English, letting users monitor bins, request pickups, report issues, track trucks, and access recycling tips and the community sharing feature.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driver app</a:t>
            </a:r>
            <a:r>
              <a:rPr lang="en-US" sz="1100">
                <a:latin typeface="Arial"/>
                <a:ea typeface="Arial"/>
                <a:cs typeface="Arial"/>
                <a:sym typeface="Arial"/>
              </a:rPr>
              <a:t> provides optimized navigation, task updates, and notifications to improve efficiency.</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Overall, </a:t>
            </a:r>
            <a:r>
              <a:rPr b="1" lang="en-US" sz="1100">
                <a:latin typeface="Arial"/>
                <a:ea typeface="Arial"/>
                <a:cs typeface="Arial"/>
                <a:sym typeface="Arial"/>
              </a:rPr>
              <a:t>Clea-Ro</a:t>
            </a:r>
            <a:r>
              <a:rPr lang="en-US" sz="1100">
                <a:latin typeface="Arial"/>
                <a:ea typeface="Arial"/>
                <a:cs typeface="Arial"/>
                <a:sym typeface="Arial"/>
              </a:rPr>
              <a:t> combines all these components into a single framework, making waste collection smarter, more coordinated, and sustainable.</a:t>
            </a:r>
            <a:endParaRPr sz="1100">
              <a:latin typeface="Arial"/>
              <a:ea typeface="Arial"/>
              <a:cs typeface="Arial"/>
              <a:sym typeface="Arial"/>
            </a:endParaRPr>
          </a:p>
        </p:txBody>
      </p:sp>
      <p:sp>
        <p:nvSpPr>
          <p:cNvPr id="196" name="Google Shape;1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One of the most innovative features of this system is </a:t>
            </a:r>
            <a:r>
              <a:rPr b="1" lang="en-US" sz="1100">
                <a:latin typeface="Arial"/>
                <a:ea typeface="Arial"/>
                <a:cs typeface="Arial"/>
                <a:sym typeface="Arial"/>
              </a:rPr>
              <a:t>Community Sharing</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Instead of throwing away items that are still usable, residents can upload them to the app so their neighbors can claim them.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example, if a family replaces their dining table, they can take a photo, add details like its condition and pickup location, and post it on the </a:t>
            </a:r>
            <a:r>
              <a:rPr i="1" lang="en-US" sz="1100">
                <a:latin typeface="Arial"/>
                <a:ea typeface="Arial"/>
                <a:cs typeface="Arial"/>
                <a:sym typeface="Arial"/>
              </a:rPr>
              <a:t>Share Hub</a:t>
            </a:r>
            <a:r>
              <a:rPr lang="en-US" sz="1100">
                <a:latin typeface="Arial"/>
                <a:ea typeface="Arial"/>
                <a:cs typeface="Arial"/>
                <a:sym typeface="Arial"/>
              </a:rPr>
              <a:t>. A neighbor who needs a table can see it, reserve it, and collect it easily. This saves money, reduces waste, and gives items a second life.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Items can either be shared for free or listed for a small price. An expiry date can also be added — so if no one claims the item by that date, it can then be safely disposed of.</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Residents can upload multiple photos and notes for each item, making it clear to neighbors exactly what they are receiving.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make the process smooth and convenient, the system includes: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Chat</a:t>
            </a:r>
            <a:r>
              <a:rPr lang="en-US" sz="1100">
                <a:latin typeface="Arial"/>
                <a:ea typeface="Arial"/>
                <a:cs typeface="Arial"/>
                <a:sym typeface="Arial"/>
              </a:rPr>
              <a:t>, so the giver and receiver can coordinate pickup times.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Cart and checkout</a:t>
            </a:r>
            <a:r>
              <a:rPr lang="en-US" sz="1100">
                <a:latin typeface="Arial"/>
                <a:ea typeface="Arial"/>
                <a:cs typeface="Arial"/>
                <a:sym typeface="Arial"/>
              </a:rPr>
              <a:t>, allowing users to claim several items at once.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Reviews</a:t>
            </a:r>
            <a:r>
              <a:rPr lang="en-US" sz="1100">
                <a:latin typeface="Arial"/>
                <a:ea typeface="Arial"/>
                <a:cs typeface="Arial"/>
                <a:sym typeface="Arial"/>
              </a:rPr>
              <a:t>, to build trust and encourage responsible sharing.</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addition, there is a </a:t>
            </a:r>
            <a:r>
              <a:rPr b="1" lang="en-US" sz="1100">
                <a:latin typeface="Arial"/>
                <a:ea typeface="Arial"/>
                <a:cs typeface="Arial"/>
                <a:sym typeface="Arial"/>
              </a:rPr>
              <a:t>Craft Hub</a:t>
            </a:r>
            <a:r>
              <a:rPr lang="en-US" sz="1100">
                <a:latin typeface="Arial"/>
                <a:ea typeface="Arial"/>
                <a:cs typeface="Arial"/>
                <a:sym typeface="Arial"/>
              </a:rPr>
              <a:t> — a platform for selling creative products made from reused or recycled materials.</a:t>
            </a:r>
            <a:br>
              <a:rPr lang="en-US" sz="1100">
                <a:latin typeface="Arial"/>
                <a:ea typeface="Arial"/>
                <a:cs typeface="Arial"/>
                <a:sym typeface="Arial"/>
              </a:rPr>
            </a:br>
            <a:r>
              <a:rPr lang="en-US" sz="1100">
                <a:latin typeface="Arial"/>
                <a:ea typeface="Arial"/>
                <a:cs typeface="Arial"/>
                <a:sym typeface="Arial"/>
              </a:rPr>
              <a:t> For example, someone can turn coconut shells into tea sets or pencil holders, or create flower pots from plastic bottles and cans. These items can then be priced and sold to neighbors through the app. This motivates people not to throw everything away, but to turn waste into valuable items — encouraging creativity, entrepreneurship, and sustainability.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Overall, this feature does two key things: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Reduces waste at the source</a:t>
            </a:r>
            <a:r>
              <a:rPr lang="en-US" sz="1100">
                <a:latin typeface="Arial"/>
                <a:ea typeface="Arial"/>
                <a:cs typeface="Arial"/>
                <a:sym typeface="Arial"/>
              </a:rPr>
              <a:t>, meaning fewer reusable items end up in the trash.</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Strengthens community relationships</a:t>
            </a:r>
            <a:r>
              <a:rPr lang="en-US" sz="1100">
                <a:latin typeface="Arial"/>
                <a:ea typeface="Arial"/>
                <a:cs typeface="Arial"/>
                <a:sym typeface="Arial"/>
              </a:rPr>
              <a:t>, as neighbors interact, share resources, and support one another.</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This transforms waste collection from a simple municipal service into a </a:t>
            </a:r>
            <a:r>
              <a:rPr b="1" lang="en-US" sz="1100">
                <a:latin typeface="Arial"/>
                <a:ea typeface="Arial"/>
                <a:cs typeface="Arial"/>
                <a:sym typeface="Arial"/>
              </a:rPr>
              <a:t>collaborative, eco-friendly, and community-driven activity</a:t>
            </a:r>
            <a:r>
              <a:rPr lang="en-US" sz="1100">
                <a:latin typeface="Arial"/>
                <a:ea typeface="Arial"/>
                <a:cs typeface="Arial"/>
                <a:sym typeface="Arial"/>
              </a:rPr>
              <a:t>.</a:t>
            </a:r>
            <a:endParaRPr sz="1100">
              <a:latin typeface="Arial"/>
              <a:ea typeface="Arial"/>
              <a:cs typeface="Arial"/>
              <a:sym typeface="Arial"/>
            </a:endParaRPr>
          </a:p>
        </p:txBody>
      </p:sp>
      <p:sp>
        <p:nvSpPr>
          <p:cNvPr id="208" name="Google Shape;2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study developed a smart waste collection model combining IoT, real-time monitoring, route optimization, and community sharing.</a:t>
            </a:r>
            <a:br>
              <a:rPr lang="en-US"/>
            </a:br>
            <a:r>
              <a:rPr lang="en-US"/>
              <a:t> It improved efficiency, reduced environmental impact, and increased citizen engagement.</a:t>
            </a:r>
            <a:endParaRPr/>
          </a:p>
          <a:p>
            <a:pPr indent="0" lvl="0" marL="0" rtl="0" algn="l">
              <a:lnSpc>
                <a:spcPct val="115000"/>
              </a:lnSpc>
              <a:spcBef>
                <a:spcPts val="1200"/>
              </a:spcBef>
              <a:spcAft>
                <a:spcPts val="1200"/>
              </a:spcAft>
              <a:buSzPts val="1100"/>
              <a:buNone/>
            </a:pPr>
            <a:r>
              <a:rPr lang="en-US"/>
              <a:t>The key innovation is reuse at the source through community sharing.</a:t>
            </a:r>
            <a:br>
              <a:rPr lang="en-US"/>
            </a:br>
            <a:r>
              <a:rPr lang="en-US"/>
              <a:t> Challenges include setup costs, data security, and scalability, and future work will focus on predictive models, stronger security, and broader community participation</a:t>
            </a:r>
            <a:endParaRPr/>
          </a:p>
        </p:txBody>
      </p:sp>
      <p:sp>
        <p:nvSpPr>
          <p:cNvPr id="220" name="Google Shape;2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5183188" y="987425"/>
            <a:ext cx="6172200" cy="4873625"/>
          </a:xfrm>
          <a:prstGeom prst="rect">
            <a:avLst/>
          </a:prstGeom>
          <a:noFill/>
          <a:ln>
            <a:noFill/>
          </a:ln>
        </p:spPr>
      </p:sp>
      <p:sp>
        <p:nvSpPr>
          <p:cNvPr id="68" name="Google Shape;68;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hyperlink" Target="mailto:39-bit-0039@kdu.ac.lk" TargetMode="External"/><Relationship Id="rId5" Type="http://schemas.openxmlformats.org/officeDocument/2006/relationships/hyperlink" Target="mailto:pathum@kdu.ac.lk" TargetMode="External"/><Relationship Id="rId6"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3.jpg"/><Relationship Id="rId5"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jp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doi.org/10.2139/ssrn.380854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mailto:39-bit-0039@kdu.ac.l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86719" y="3305400"/>
            <a:ext cx="12018559" cy="139541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mbria"/>
              <a:buNone/>
            </a:pPr>
            <a:r>
              <a:rPr lang="en-US" sz="4000">
                <a:latin typeface="Cambria"/>
                <a:ea typeface="Cambria"/>
                <a:cs typeface="Cambria"/>
                <a:sym typeface="Cambria"/>
              </a:rPr>
              <a:t>Smarter Together: From Bin to Neighbor Through Community Sharing and Smart Technologies for a Future-Ready Waste Collection Ecosystem</a:t>
            </a:r>
            <a:endParaRPr/>
          </a:p>
        </p:txBody>
      </p:sp>
      <p:sp>
        <p:nvSpPr>
          <p:cNvPr id="90" name="Google Shape;90;p1"/>
          <p:cNvSpPr txBox="1"/>
          <p:nvPr>
            <p:ph idx="1" type="subTitle"/>
          </p:nvPr>
        </p:nvSpPr>
        <p:spPr>
          <a:xfrm>
            <a:off x="7585042" y="6089904"/>
            <a:ext cx="4475226" cy="55035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latin typeface="Cambria"/>
                <a:ea typeface="Cambria"/>
                <a:cs typeface="Cambria"/>
                <a:sym typeface="Cambria"/>
              </a:rPr>
              <a:t>Paper ID - 862</a:t>
            </a:r>
            <a:endParaRPr/>
          </a:p>
        </p:txBody>
      </p:sp>
      <p:sp>
        <p:nvSpPr>
          <p:cNvPr id="91" name="Google Shape;91;p1"/>
          <p:cNvSpPr/>
          <p:nvPr/>
        </p:nvSpPr>
        <p:spPr>
          <a:xfrm>
            <a:off x="-1" y="477259"/>
            <a:ext cx="12192000" cy="2099974"/>
          </a:xfrm>
          <a:prstGeom prst="rect">
            <a:avLst/>
          </a:prstGeom>
          <a:solidFill>
            <a:srgbClr val="A9D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2" name="Google Shape;92;p1"/>
          <p:cNvPicPr preferRelativeResize="0"/>
          <p:nvPr/>
        </p:nvPicPr>
        <p:blipFill rotWithShape="1">
          <a:blip r:embed="rId3">
            <a:alphaModFix/>
          </a:blip>
          <a:srcRect b="0" l="0" r="0" t="0"/>
          <a:stretch/>
        </p:blipFill>
        <p:spPr>
          <a:xfrm>
            <a:off x="0" y="4936121"/>
            <a:ext cx="3292791" cy="1354013"/>
          </a:xfrm>
          <a:prstGeom prst="rect">
            <a:avLst/>
          </a:prstGeom>
          <a:noFill/>
          <a:ln>
            <a:noFill/>
          </a:ln>
        </p:spPr>
      </p:pic>
      <p:sp>
        <p:nvSpPr>
          <p:cNvPr id="93" name="Google Shape;93;p1"/>
          <p:cNvSpPr/>
          <p:nvPr/>
        </p:nvSpPr>
        <p:spPr>
          <a:xfrm>
            <a:off x="-1" y="237125"/>
            <a:ext cx="12192000" cy="2533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a:off x="-1" y="0"/>
            <a:ext cx="12192000" cy="253311"/>
          </a:xfrm>
          <a:prstGeom prst="rect">
            <a:avLst/>
          </a:prstGeom>
          <a:solidFill>
            <a:srgbClr val="1E4E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Author Details</a:t>
            </a:r>
            <a:endParaRPr/>
          </a:p>
        </p:txBody>
      </p:sp>
      <p:sp>
        <p:nvSpPr>
          <p:cNvPr id="100" name="Google Shape;100;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01" name="Google Shape;101;p2"/>
          <p:cNvSpPr txBox="1"/>
          <p:nvPr>
            <p:ph idx="11" type="ftr"/>
          </p:nvPr>
        </p:nvSpPr>
        <p:spPr>
          <a:xfrm>
            <a:off x="4206240" y="6176963"/>
            <a:ext cx="3453384" cy="6810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02" name="Google Shape;10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3" name="Google Shape;103;p2"/>
          <p:cNvPicPr preferRelativeResize="0"/>
          <p:nvPr/>
        </p:nvPicPr>
        <p:blipFill rotWithShape="1">
          <a:blip r:embed="rId3">
            <a:alphaModFix/>
          </a:blip>
          <a:srcRect b="0" l="0" r="0" t="0"/>
          <a:stretch/>
        </p:blipFill>
        <p:spPr>
          <a:xfrm>
            <a:off x="838201" y="4015740"/>
            <a:ext cx="1932588" cy="2011680"/>
          </a:xfrm>
          <a:prstGeom prst="rect">
            <a:avLst/>
          </a:prstGeom>
          <a:noFill/>
          <a:ln cap="flat" cmpd="sng" w="9525">
            <a:solidFill>
              <a:schemeClr val="dk1"/>
            </a:solidFill>
            <a:prstDash val="solid"/>
            <a:round/>
            <a:headEnd len="sm" w="sm" type="none"/>
            <a:tailEnd len="sm" w="sm" type="none"/>
          </a:ln>
        </p:spPr>
      </p:pic>
      <p:sp>
        <p:nvSpPr>
          <p:cNvPr id="104" name="Google Shape;104;p2"/>
          <p:cNvSpPr txBox="1"/>
          <p:nvPr/>
        </p:nvSpPr>
        <p:spPr>
          <a:xfrm>
            <a:off x="4124563" y="2023970"/>
            <a:ext cx="6944698" cy="123952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None/>
            </a:pPr>
            <a:r>
              <a:rPr lang="en-US" sz="1800">
                <a:solidFill>
                  <a:schemeClr val="dk1"/>
                </a:solidFill>
                <a:latin typeface="Cambria"/>
                <a:ea typeface="Cambria"/>
                <a:cs typeface="Cambria"/>
                <a:sym typeface="Cambria"/>
              </a:rPr>
              <a:t>RAKK Ranasinghe is a fourth-year undergraduate pursuing a BSc (Hons) in Information Technology at the Faculty of Computing, General Sir John Kotelawala Defence University</a:t>
            </a:r>
            <a:endParaRPr sz="1800">
              <a:solidFill>
                <a:schemeClr val="dk1"/>
              </a:solidFill>
              <a:latin typeface="Cambria"/>
              <a:ea typeface="Cambria"/>
              <a:cs typeface="Cambria"/>
              <a:sym typeface="Cambria"/>
            </a:endParaRPr>
          </a:p>
          <a:p>
            <a:pPr indent="0" lvl="0" marL="0" marR="0" rtl="0" algn="just">
              <a:lnSpc>
                <a:spcPct val="107000"/>
              </a:lnSpc>
              <a:spcBef>
                <a:spcPts val="0"/>
              </a:spcBef>
              <a:spcAft>
                <a:spcPts val="0"/>
              </a:spcAft>
              <a:buNone/>
            </a:pPr>
            <a:r>
              <a:rPr lang="en-US" sz="1800" u="sng">
                <a:solidFill>
                  <a:schemeClr val="hlink"/>
                </a:solidFill>
                <a:latin typeface="Cambria"/>
                <a:ea typeface="Cambria"/>
                <a:cs typeface="Cambria"/>
                <a:sym typeface="Cambria"/>
                <a:hlinkClick r:id="rId4"/>
              </a:rPr>
              <a:t>39-bit-0039@kdu.ac.lk</a:t>
            </a:r>
            <a:endParaRPr sz="1800">
              <a:solidFill>
                <a:schemeClr val="dk1"/>
              </a:solidFill>
              <a:latin typeface="Cambria"/>
              <a:ea typeface="Cambria"/>
              <a:cs typeface="Cambria"/>
              <a:sym typeface="Cambria"/>
            </a:endParaRPr>
          </a:p>
        </p:txBody>
      </p:sp>
      <p:sp>
        <p:nvSpPr>
          <p:cNvPr id="105" name="Google Shape;105;p2"/>
          <p:cNvSpPr txBox="1"/>
          <p:nvPr/>
        </p:nvSpPr>
        <p:spPr>
          <a:xfrm>
            <a:off x="4124563" y="4401820"/>
            <a:ext cx="6944698" cy="123952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None/>
            </a:pPr>
            <a:r>
              <a:rPr b="0" i="0" lang="en-US" sz="1800" u="none" cap="none" strike="noStrike">
                <a:solidFill>
                  <a:schemeClr val="dk1"/>
                </a:solidFill>
                <a:latin typeface="Cambria"/>
                <a:ea typeface="Cambria"/>
                <a:cs typeface="Cambria"/>
                <a:sym typeface="Cambria"/>
              </a:rPr>
              <a:t>Mr. RPS Kathriarachchi is a Senior Lecturer Grade II in the Department of Information Technology, Faculty of Computing, at General Sir John Kotelawala Defence University</a:t>
            </a:r>
            <a:endParaRPr b="0" i="0" sz="1800" u="none" cap="none" strike="noStrike">
              <a:solidFill>
                <a:schemeClr val="dk1"/>
              </a:solidFill>
              <a:latin typeface="Cambria"/>
              <a:ea typeface="Cambria"/>
              <a:cs typeface="Cambria"/>
              <a:sym typeface="Cambria"/>
            </a:endParaRPr>
          </a:p>
          <a:p>
            <a:pPr indent="0" lvl="0" marL="0" marR="0" rtl="0" algn="just">
              <a:lnSpc>
                <a:spcPct val="107000"/>
              </a:lnSpc>
              <a:spcBef>
                <a:spcPts val="0"/>
              </a:spcBef>
              <a:spcAft>
                <a:spcPts val="0"/>
              </a:spcAft>
              <a:buNone/>
            </a:pPr>
            <a:r>
              <a:rPr lang="en-US" sz="1800" u="sng">
                <a:solidFill>
                  <a:schemeClr val="hlink"/>
                </a:solidFill>
                <a:latin typeface="Cambria"/>
                <a:ea typeface="Cambria"/>
                <a:cs typeface="Cambria"/>
                <a:sym typeface="Cambria"/>
                <a:hlinkClick r:id="rId5"/>
              </a:rPr>
              <a:t>pathum@kdu.ac.lk</a:t>
            </a:r>
            <a:endParaRPr sz="1800">
              <a:solidFill>
                <a:schemeClr val="dk1"/>
              </a:solidFill>
              <a:latin typeface="Cambria"/>
              <a:ea typeface="Cambria"/>
              <a:cs typeface="Cambria"/>
              <a:sym typeface="Cambria"/>
            </a:endParaRPr>
          </a:p>
        </p:txBody>
      </p:sp>
      <p:pic>
        <p:nvPicPr>
          <p:cNvPr descr="A person in uniform smiling&#10;&#10;AI-generated content may be incorrect." id="106" name="Google Shape;106;p2"/>
          <p:cNvPicPr preferRelativeResize="0"/>
          <p:nvPr/>
        </p:nvPicPr>
        <p:blipFill rotWithShape="1">
          <a:blip r:embed="rId6">
            <a:alphaModFix/>
          </a:blip>
          <a:srcRect b="44516" l="8531" r="14381" t="0"/>
          <a:stretch/>
        </p:blipFill>
        <p:spPr>
          <a:xfrm>
            <a:off x="841405" y="1690688"/>
            <a:ext cx="1929384" cy="190608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Table of Content</a:t>
            </a:r>
            <a:endParaRPr/>
          </a:p>
        </p:txBody>
      </p:sp>
      <p:sp>
        <p:nvSpPr>
          <p:cNvPr id="112" name="Google Shape;11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lnSpc>
                <a:spcPct val="90000"/>
              </a:lnSpc>
              <a:spcBef>
                <a:spcPts val="0"/>
              </a:spcBef>
              <a:spcAft>
                <a:spcPts val="0"/>
              </a:spcAft>
              <a:buClr>
                <a:schemeClr val="dk1"/>
              </a:buClr>
              <a:buSzPct val="100000"/>
              <a:buFont typeface="Calibri"/>
              <a:buAutoNum type="arabicParenR"/>
            </a:pPr>
            <a:r>
              <a:rPr lang="en-US">
                <a:latin typeface="Cambria"/>
                <a:ea typeface="Cambria"/>
                <a:cs typeface="Cambria"/>
                <a:sym typeface="Cambria"/>
              </a:rPr>
              <a:t>Introduction</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Research Questions</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Aims</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Objectives</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Literature Review</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Methodology</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Findings and Discussion</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Conclusion</a:t>
            </a:r>
            <a:endParaRPr/>
          </a:p>
          <a:p>
            <a:pPr indent="-514350" lvl="0" marL="514350" rtl="0" algn="l">
              <a:lnSpc>
                <a:spcPct val="90000"/>
              </a:lnSpc>
              <a:spcBef>
                <a:spcPts val="1200"/>
              </a:spcBef>
              <a:spcAft>
                <a:spcPts val="0"/>
              </a:spcAft>
              <a:buClr>
                <a:schemeClr val="dk1"/>
              </a:buClr>
              <a:buSzPct val="100000"/>
              <a:buFont typeface="Calibri"/>
              <a:buAutoNum type="arabicParenR"/>
            </a:pPr>
            <a:r>
              <a:rPr lang="en-US">
                <a:latin typeface="Cambria"/>
                <a:ea typeface="Cambria"/>
                <a:cs typeface="Cambria"/>
                <a:sym typeface="Cambria"/>
              </a:rPr>
              <a:t>References </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13" name="Google Shape;11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14" name="Google Shape;11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5" name="Google Shape;11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Introduction</a:t>
            </a:r>
            <a:endParaRPr/>
          </a:p>
        </p:txBody>
      </p:sp>
      <p:sp>
        <p:nvSpPr>
          <p:cNvPr id="121" name="Google Shape;12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22" name="Google Shape;12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23" name="Google Shape;12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4"/>
          <p:cNvSpPr txBox="1"/>
          <p:nvPr/>
        </p:nvSpPr>
        <p:spPr>
          <a:xfrm>
            <a:off x="527337" y="1591433"/>
            <a:ext cx="11137326" cy="4637167"/>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200"/>
              <a:buFont typeface="Noto Sans Symbols"/>
              <a:buChar char="▪"/>
            </a:pPr>
            <a:r>
              <a:rPr b="1" i="0" lang="en-US" sz="2200" u="none" cap="none" strike="noStrike">
                <a:solidFill>
                  <a:schemeClr val="dk1"/>
                </a:solidFill>
                <a:latin typeface="Cambria"/>
                <a:ea typeface="Cambria"/>
                <a:cs typeface="Cambria"/>
                <a:sym typeface="Cambria"/>
              </a:rPr>
              <a:t>Urbanization and population growth</a:t>
            </a:r>
            <a:r>
              <a:rPr b="0" i="0" lang="en-US" sz="2200" u="none" cap="none" strike="noStrike">
                <a:solidFill>
                  <a:schemeClr val="dk1"/>
                </a:solidFill>
                <a:latin typeface="Cambria"/>
                <a:ea typeface="Cambria"/>
                <a:cs typeface="Cambria"/>
                <a:sym typeface="Cambria"/>
              </a:rPr>
              <a:t> increase waste collection challenges</a:t>
            </a:r>
            <a:endParaRPr/>
          </a:p>
          <a:p>
            <a:pPr indent="-342900" lvl="0" marL="342900" marR="0" rtl="0" algn="just">
              <a:spcBef>
                <a:spcPts val="1600"/>
              </a:spcBef>
              <a:spcAft>
                <a:spcPts val="0"/>
              </a:spcAft>
              <a:buClr>
                <a:schemeClr val="dk1"/>
              </a:buClr>
              <a:buSzPts val="2200"/>
              <a:buFont typeface="Noto Sans Symbols"/>
              <a:buChar char="▪"/>
            </a:pPr>
            <a:r>
              <a:rPr b="1" i="0" lang="en-US" sz="2200" u="none" cap="none" strike="noStrike">
                <a:solidFill>
                  <a:schemeClr val="dk1"/>
                </a:solidFill>
                <a:latin typeface="Cambria"/>
                <a:ea typeface="Cambria"/>
                <a:cs typeface="Cambria"/>
                <a:sym typeface="Cambria"/>
              </a:rPr>
              <a:t>Traditional waste collection methods</a:t>
            </a:r>
            <a:r>
              <a:rPr b="0" i="0" lang="en-US" sz="2200" u="none" cap="none" strike="noStrike">
                <a:solidFill>
                  <a:schemeClr val="dk1"/>
                </a:solidFill>
                <a:latin typeface="Cambria"/>
                <a:ea typeface="Cambria"/>
                <a:cs typeface="Cambria"/>
                <a:sym typeface="Cambria"/>
              </a:rPr>
              <a:t> are inefficient and costly - leading to overflowing bins, irregular pickups, and unnecessary disposal of reusable items</a:t>
            </a:r>
            <a:endParaRPr/>
          </a:p>
          <a:p>
            <a:pPr indent="-342900" lvl="0" marL="342900" marR="0" rtl="0" algn="just">
              <a:spcBef>
                <a:spcPts val="1600"/>
              </a:spcBef>
              <a:spcAft>
                <a:spcPts val="0"/>
              </a:spcAft>
              <a:buClr>
                <a:schemeClr val="dk1"/>
              </a:buClr>
              <a:buSzPts val="2200"/>
              <a:buFont typeface="Noto Sans Symbols"/>
              <a:buChar char="▪"/>
            </a:pPr>
            <a:r>
              <a:rPr b="0" i="0" lang="en-US" sz="2200" u="none" cap="none" strike="noStrike">
                <a:solidFill>
                  <a:schemeClr val="dk1"/>
                </a:solidFill>
                <a:latin typeface="Cambria"/>
                <a:ea typeface="Cambria"/>
                <a:cs typeface="Cambria"/>
                <a:sym typeface="Cambria"/>
              </a:rPr>
              <a:t>Sri Lanka lacks an integrated system that combines modern technology with community participation. </a:t>
            </a:r>
            <a:r>
              <a:rPr b="1" i="0" lang="en-US" sz="2200" u="none" cap="none" strike="noStrike">
                <a:solidFill>
                  <a:schemeClr val="dk1"/>
                </a:solidFill>
                <a:latin typeface="Cambria"/>
                <a:ea typeface="Cambria"/>
                <a:cs typeface="Cambria"/>
                <a:sym typeface="Cambria"/>
              </a:rPr>
              <a:t>Modern technologies </a:t>
            </a:r>
            <a:r>
              <a:rPr b="0" i="0" lang="en-US" sz="2200" u="none" cap="none" strike="noStrike">
                <a:solidFill>
                  <a:schemeClr val="dk1"/>
                </a:solidFill>
                <a:latin typeface="Cambria"/>
                <a:ea typeface="Cambria"/>
                <a:cs typeface="Cambria"/>
                <a:sym typeface="Cambria"/>
              </a:rPr>
              <a:t>(IoT, AI, GIS, ML, Mobile &amp; Web Applications) offer smarter waste collection solutions</a:t>
            </a:r>
            <a:endParaRPr/>
          </a:p>
          <a:p>
            <a:pPr indent="-342900" lvl="0" marL="342900" marR="0" rtl="0" algn="just">
              <a:spcBef>
                <a:spcPts val="1600"/>
              </a:spcBef>
              <a:spcAft>
                <a:spcPts val="0"/>
              </a:spcAft>
              <a:buClr>
                <a:schemeClr val="dk1"/>
              </a:buClr>
              <a:buSzPts val="2200"/>
              <a:buFont typeface="Noto Sans Symbols"/>
              <a:buChar char="▪"/>
            </a:pPr>
            <a:r>
              <a:rPr b="0" i="0" lang="en-US" sz="2200" u="none" cap="none" strike="noStrike">
                <a:solidFill>
                  <a:schemeClr val="dk1"/>
                </a:solidFill>
                <a:latin typeface="Cambria"/>
                <a:ea typeface="Cambria"/>
                <a:cs typeface="Cambria"/>
                <a:sym typeface="Cambria"/>
              </a:rPr>
              <a:t>This study introduces </a:t>
            </a:r>
            <a:r>
              <a:rPr b="1" i="0" lang="en-US" sz="2200" u="none" cap="none" strike="noStrike">
                <a:solidFill>
                  <a:schemeClr val="dk1"/>
                </a:solidFill>
                <a:latin typeface="Cambria"/>
                <a:ea typeface="Cambria"/>
                <a:cs typeface="Cambria"/>
                <a:sym typeface="Cambria"/>
              </a:rPr>
              <a:t>Clea-Ro</a:t>
            </a:r>
            <a:r>
              <a:rPr b="0" i="0" lang="en-US" sz="2200" u="none" cap="none" strike="noStrike">
                <a:solidFill>
                  <a:schemeClr val="dk1"/>
                </a:solidFill>
                <a:latin typeface="Cambria"/>
                <a:ea typeface="Cambria"/>
                <a:cs typeface="Cambria"/>
                <a:sym typeface="Cambria"/>
              </a:rPr>
              <a:t>, a Smart Waste Collection System integrating </a:t>
            </a:r>
            <a:r>
              <a:rPr b="1" i="0" lang="en-US" sz="2200" u="none" cap="none" strike="noStrike">
                <a:solidFill>
                  <a:schemeClr val="dk1"/>
                </a:solidFill>
                <a:latin typeface="Cambria"/>
                <a:ea typeface="Cambria"/>
                <a:cs typeface="Cambria"/>
                <a:sym typeface="Cambria"/>
              </a:rPr>
              <a:t>IoT-enabled bins, Algorithm based route optimization, and a community sharing platform for reusable items</a:t>
            </a:r>
            <a:endParaRPr/>
          </a:p>
          <a:p>
            <a:pPr indent="-342900" lvl="0" marL="342900" marR="0" rtl="0" algn="just">
              <a:spcBef>
                <a:spcPts val="1600"/>
              </a:spcBef>
              <a:spcAft>
                <a:spcPts val="0"/>
              </a:spcAft>
              <a:buClr>
                <a:schemeClr val="dk1"/>
              </a:buClr>
              <a:buSzPts val="2200"/>
              <a:buFont typeface="Noto Sans Symbols"/>
              <a:buChar char="▪"/>
            </a:pPr>
            <a:r>
              <a:rPr b="1" i="0" lang="en-US" sz="2200" u="none" cap="none" strike="noStrike">
                <a:solidFill>
                  <a:schemeClr val="dk1"/>
                </a:solidFill>
                <a:latin typeface="Cambria"/>
                <a:ea typeface="Cambria"/>
                <a:cs typeface="Cambria"/>
                <a:sym typeface="Cambria"/>
              </a:rPr>
              <a:t>Importance: Tackles inefficiency, enhances engagement, reduces environmental impact, and promotes long-term sustainability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Research Questions </a:t>
            </a:r>
            <a:endParaRPr>
              <a:latin typeface="Cambria"/>
              <a:ea typeface="Cambria"/>
              <a:cs typeface="Cambria"/>
              <a:sym typeface="Cambria"/>
            </a:endParaRPr>
          </a:p>
        </p:txBody>
      </p:sp>
      <p:sp>
        <p:nvSpPr>
          <p:cNvPr id="130" name="Google Shape;1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31" name="Google Shape;1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32" name="Google Shape;1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p5"/>
          <p:cNvSpPr txBox="1"/>
          <p:nvPr/>
        </p:nvSpPr>
        <p:spPr>
          <a:xfrm>
            <a:off x="461297" y="1536512"/>
            <a:ext cx="7154606" cy="4093428"/>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chemeClr val="dk1"/>
              </a:buClr>
              <a:buSzPts val="2200"/>
              <a:buFont typeface="Calibri"/>
              <a:buAutoNum type="arabicParenR"/>
            </a:pPr>
            <a:r>
              <a:rPr b="0" i="0" lang="en-US" sz="2200" u="none" cap="none" strike="noStrike">
                <a:solidFill>
                  <a:schemeClr val="dk1"/>
                </a:solidFill>
                <a:latin typeface="Cambria"/>
                <a:ea typeface="Cambria"/>
                <a:cs typeface="Cambria"/>
                <a:sym typeface="Cambria"/>
              </a:rPr>
              <a:t>How can modern technologies improve efficiency in urban waste collection?</a:t>
            </a:r>
            <a:endParaRPr/>
          </a:p>
          <a:p>
            <a:pPr indent="-457200" lvl="0" marL="457200" marR="0" rtl="0" algn="just">
              <a:spcBef>
                <a:spcPts val="1600"/>
              </a:spcBef>
              <a:spcAft>
                <a:spcPts val="0"/>
              </a:spcAft>
              <a:buClr>
                <a:schemeClr val="dk1"/>
              </a:buClr>
              <a:buSzPts val="2200"/>
              <a:buFont typeface="Calibri"/>
              <a:buAutoNum type="arabicParenR"/>
            </a:pPr>
            <a:r>
              <a:rPr b="0" i="0" lang="en-US" sz="2200" u="none" cap="none" strike="noStrike">
                <a:solidFill>
                  <a:schemeClr val="dk1"/>
                </a:solidFill>
                <a:latin typeface="Cambria"/>
                <a:ea typeface="Cambria"/>
                <a:cs typeface="Cambria"/>
                <a:sym typeface="Cambria"/>
              </a:rPr>
              <a:t>What role does community participation play in reducing waste at the source?</a:t>
            </a:r>
            <a:endParaRPr/>
          </a:p>
          <a:p>
            <a:pPr indent="-457200" lvl="0" marL="457200" marR="0" rtl="0" algn="just">
              <a:spcBef>
                <a:spcPts val="1600"/>
              </a:spcBef>
              <a:spcAft>
                <a:spcPts val="0"/>
              </a:spcAft>
              <a:buClr>
                <a:schemeClr val="dk1"/>
              </a:buClr>
              <a:buSzPts val="2200"/>
              <a:buFont typeface="Calibri"/>
              <a:buAutoNum type="arabicParenR"/>
            </a:pPr>
            <a:r>
              <a:rPr b="0" i="0" lang="en-US" sz="2200" u="none" cap="none" strike="noStrike">
                <a:solidFill>
                  <a:schemeClr val="dk1"/>
                </a:solidFill>
                <a:latin typeface="Cambria"/>
                <a:ea typeface="Cambria"/>
                <a:cs typeface="Cambria"/>
                <a:sym typeface="Cambria"/>
              </a:rPr>
              <a:t>Can an integrated system combining smart technologies and community sharing provide a sustainable model for waste collection in developing regions?</a:t>
            </a:r>
            <a:endParaRPr/>
          </a:p>
          <a:p>
            <a:pPr indent="-457200" lvl="0" marL="457200" marR="0" rtl="0" algn="just">
              <a:spcBef>
                <a:spcPts val="1600"/>
              </a:spcBef>
              <a:spcAft>
                <a:spcPts val="0"/>
              </a:spcAft>
              <a:buClr>
                <a:schemeClr val="dk1"/>
              </a:buClr>
              <a:buSzPts val="2200"/>
              <a:buFont typeface="Calibri"/>
              <a:buAutoNum type="arabicParenR"/>
            </a:pPr>
            <a:r>
              <a:rPr b="0" i="0" lang="en-US" sz="2200" u="none" cap="none" strike="noStrike">
                <a:solidFill>
                  <a:schemeClr val="dk1"/>
                </a:solidFill>
                <a:latin typeface="Cambria"/>
                <a:ea typeface="Cambria"/>
                <a:cs typeface="Cambria"/>
                <a:sym typeface="Cambria"/>
              </a:rPr>
              <a:t>How does user-friendly and user-centered design affect citizen participation and accessibility?</a:t>
            </a:r>
            <a:endParaRPr/>
          </a:p>
        </p:txBody>
      </p:sp>
      <p:pic>
        <p:nvPicPr>
          <p:cNvPr descr="Clean Sri Lanka – cleansing the soul of the country | Daily FT" id="134" name="Google Shape;134;p5"/>
          <p:cNvPicPr preferRelativeResize="0"/>
          <p:nvPr/>
        </p:nvPicPr>
        <p:blipFill rotWithShape="1">
          <a:blip r:embed="rId3">
            <a:alphaModFix/>
          </a:blip>
          <a:srcRect b="11565" l="0" r="0" t="7694"/>
          <a:stretch/>
        </p:blipFill>
        <p:spPr>
          <a:xfrm>
            <a:off x="8146549" y="3158569"/>
            <a:ext cx="3573634" cy="1305243"/>
          </a:xfrm>
          <a:prstGeom prst="rect">
            <a:avLst/>
          </a:prstGeom>
          <a:noFill/>
          <a:ln cap="flat" cmpd="sng" w="9525">
            <a:solidFill>
              <a:schemeClr val="dk1"/>
            </a:solidFill>
            <a:prstDash val="solid"/>
            <a:round/>
            <a:headEnd len="sm" w="sm" type="none"/>
            <a:tailEnd len="sm" w="sm" type="none"/>
          </a:ln>
        </p:spPr>
      </p:pic>
      <p:pic>
        <p:nvPicPr>
          <p:cNvPr descr="Daily Mirror - Sri Lanka Latest Breaking News and Headlines - Print Edition  Danger zone identified within section of Karadiyana garbage dump" id="135" name="Google Shape;135;p5"/>
          <p:cNvPicPr preferRelativeResize="0"/>
          <p:nvPr/>
        </p:nvPicPr>
        <p:blipFill rotWithShape="1">
          <a:blip r:embed="rId4">
            <a:alphaModFix/>
          </a:blip>
          <a:srcRect b="0" l="0" r="0" t="23781"/>
          <a:stretch/>
        </p:blipFill>
        <p:spPr>
          <a:xfrm>
            <a:off x="8153400" y="4602480"/>
            <a:ext cx="3573634" cy="1227613"/>
          </a:xfrm>
          <a:prstGeom prst="rect">
            <a:avLst/>
          </a:prstGeom>
          <a:noFill/>
          <a:ln cap="flat" cmpd="sng" w="9525">
            <a:solidFill>
              <a:schemeClr val="dk1"/>
            </a:solidFill>
            <a:prstDash val="solid"/>
            <a:round/>
            <a:headEnd len="sm" w="sm" type="none"/>
            <a:tailEnd len="sm" w="sm" type="none"/>
          </a:ln>
        </p:spPr>
      </p:pic>
      <p:pic>
        <p:nvPicPr>
          <p:cNvPr descr="Daily Mirror - Sri Lanka Latest Breaking News and Headlines - Print Edition  Garbage a curse to streets of Colombo" id="136" name="Google Shape;136;p5"/>
          <p:cNvPicPr preferRelativeResize="0"/>
          <p:nvPr/>
        </p:nvPicPr>
        <p:blipFill rotWithShape="1">
          <a:blip r:embed="rId5">
            <a:alphaModFix/>
          </a:blip>
          <a:srcRect b="-1" l="10574" r="4897" t="0"/>
          <a:stretch/>
        </p:blipFill>
        <p:spPr>
          <a:xfrm>
            <a:off x="8146549" y="1689235"/>
            <a:ext cx="3573634" cy="132556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Aim</a:t>
            </a:r>
            <a:endParaRPr/>
          </a:p>
        </p:txBody>
      </p:sp>
      <p:sp>
        <p:nvSpPr>
          <p:cNvPr id="142" name="Google Shape;1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43" name="Google Shape;1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44" name="Google Shape;1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Google Shape;145;p6"/>
          <p:cNvSpPr/>
          <p:nvPr/>
        </p:nvSpPr>
        <p:spPr>
          <a:xfrm>
            <a:off x="838200" y="3708400"/>
            <a:ext cx="2863499" cy="2335338"/>
          </a:xfrm>
          <a:custGeom>
            <a:rect b="b" l="l" r="r" t="t"/>
            <a:pathLst>
              <a:path extrusionOk="0" h="5371751" w="6805249">
                <a:moveTo>
                  <a:pt x="0" y="0"/>
                </a:moveTo>
                <a:lnTo>
                  <a:pt x="6805249" y="0"/>
                </a:lnTo>
                <a:lnTo>
                  <a:pt x="6805249" y="5371751"/>
                </a:lnTo>
                <a:lnTo>
                  <a:pt x="0" y="5371751"/>
                </a:lnTo>
                <a:lnTo>
                  <a:pt x="0" y="0"/>
                </a:lnTo>
                <a:close/>
              </a:path>
            </a:pathLst>
          </a:custGeom>
          <a:blipFill rotWithShape="1">
            <a:blip r:embed="rId3">
              <a:alphaModFix/>
            </a:blip>
            <a:stretch>
              <a:fillRect b="0" l="-5245"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mart Waste Management Royalty-Free Images, Stock Photos &amp; Pictures |  Shutterstock" id="146" name="Google Shape;146;p6"/>
          <p:cNvPicPr preferRelativeResize="0"/>
          <p:nvPr/>
        </p:nvPicPr>
        <p:blipFill rotWithShape="1">
          <a:blip r:embed="rId4">
            <a:alphaModFix/>
          </a:blip>
          <a:srcRect b="10429" l="2685" r="0" t="1"/>
          <a:stretch/>
        </p:blipFill>
        <p:spPr>
          <a:xfrm>
            <a:off x="3440276" y="3708400"/>
            <a:ext cx="4977284" cy="2481529"/>
          </a:xfrm>
          <a:prstGeom prst="rect">
            <a:avLst/>
          </a:prstGeom>
          <a:noFill/>
          <a:ln>
            <a:noFill/>
          </a:ln>
        </p:spPr>
      </p:pic>
      <p:pic>
        <p:nvPicPr>
          <p:cNvPr descr="17,000+ Waste Management Stock Illustrations, Royalty-Free Vector Graphics  &amp; Clip Art - iStock | Waste management truck, Waste management icon, Solid  waste management" id="147" name="Google Shape;147;p6"/>
          <p:cNvPicPr preferRelativeResize="0"/>
          <p:nvPr/>
        </p:nvPicPr>
        <p:blipFill rotWithShape="1">
          <a:blip r:embed="rId5">
            <a:alphaModFix/>
          </a:blip>
          <a:srcRect b="0" l="0" r="0" t="0"/>
          <a:stretch/>
        </p:blipFill>
        <p:spPr>
          <a:xfrm>
            <a:off x="7567942" y="3817879"/>
            <a:ext cx="4624058" cy="2594759"/>
          </a:xfrm>
          <a:prstGeom prst="rect">
            <a:avLst/>
          </a:prstGeom>
          <a:noFill/>
          <a:ln>
            <a:noFill/>
          </a:ln>
        </p:spPr>
      </p:pic>
      <p:sp>
        <p:nvSpPr>
          <p:cNvPr id="148" name="Google Shape;148;p6"/>
          <p:cNvSpPr txBox="1"/>
          <p:nvPr/>
        </p:nvSpPr>
        <p:spPr>
          <a:xfrm>
            <a:off x="838200" y="1557224"/>
            <a:ext cx="10795000" cy="1763881"/>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None/>
            </a:pPr>
            <a:r>
              <a:rPr lang="en-US" sz="2400">
                <a:solidFill>
                  <a:schemeClr val="dk1"/>
                </a:solidFill>
                <a:latin typeface="Cambria"/>
                <a:ea typeface="Cambria"/>
                <a:cs typeface="Cambria"/>
                <a:sym typeface="Cambria"/>
              </a:rPr>
              <a:t>To develop an integrated smart waste collection system that enhances operational efficiency, encourages item reuse, and strengthens community participation by using modern technologies, while ensuring sustainability and providing a citizen-friendly approach to waste management</a:t>
            </a:r>
            <a:endParaRPr b="1" sz="2400">
              <a:solidFill>
                <a:schemeClr val="dk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Objectives</a:t>
            </a:r>
            <a:endParaRPr/>
          </a:p>
        </p:txBody>
      </p:sp>
      <p:sp>
        <p:nvSpPr>
          <p:cNvPr id="154" name="Google Shape;15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55" name="Google Shape;15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56" name="Google Shape;15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7"/>
          <p:cNvSpPr txBox="1"/>
          <p:nvPr/>
        </p:nvSpPr>
        <p:spPr>
          <a:xfrm>
            <a:off x="527337" y="1591433"/>
            <a:ext cx="11137326" cy="4729500"/>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Analyze Traditional Methods: </a:t>
            </a:r>
            <a:r>
              <a:rPr lang="en-US" sz="2200">
                <a:solidFill>
                  <a:schemeClr val="dk1"/>
                </a:solidFill>
                <a:latin typeface="Cambria"/>
                <a:ea typeface="Cambria"/>
                <a:cs typeface="Cambria"/>
                <a:sym typeface="Cambria"/>
              </a:rPr>
              <a:t>Identify inefficiencies in conventional waste collection, such as fixed schedules, high costs, irregular pickups, and environmental impacts</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Review Modern Technologies: </a:t>
            </a:r>
            <a:r>
              <a:rPr lang="en-US" sz="2200">
                <a:solidFill>
                  <a:schemeClr val="dk1"/>
                </a:solidFill>
                <a:latin typeface="Cambria"/>
                <a:ea typeface="Cambria"/>
                <a:cs typeface="Cambria"/>
                <a:sym typeface="Cambria"/>
              </a:rPr>
              <a:t>Explore IoT-enabled smart bins, Route optimization, and mobile/web apps for real-time interaction</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Introduce Community Sharing: </a:t>
            </a:r>
            <a:r>
              <a:rPr lang="en-US" sz="2200">
                <a:solidFill>
                  <a:schemeClr val="dk1"/>
                </a:solidFill>
                <a:latin typeface="Cambria"/>
                <a:ea typeface="Cambria"/>
                <a:cs typeface="Cambria"/>
                <a:sym typeface="Cambria"/>
              </a:rPr>
              <a:t>Enable residents to share reusable items before disposal, reducing waste at the source</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Design an Integrated Framework: </a:t>
            </a:r>
            <a:r>
              <a:rPr lang="en-US" sz="2200">
                <a:solidFill>
                  <a:schemeClr val="dk1"/>
                </a:solidFill>
                <a:latin typeface="Cambria"/>
                <a:ea typeface="Cambria"/>
                <a:cs typeface="Cambria"/>
                <a:sym typeface="Cambria"/>
              </a:rPr>
              <a:t>Develop a unified smart waste ecosystem combining IoT bins, user/driver apps, and a web platform for administrators</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Promote Collaboration and Sustainability</a:t>
            </a:r>
            <a:r>
              <a:rPr lang="en-US" sz="2200">
                <a:solidFill>
                  <a:schemeClr val="dk1"/>
                </a:solidFill>
                <a:latin typeface="Cambria"/>
                <a:ea typeface="Cambria"/>
                <a:cs typeface="Cambria"/>
                <a:sym typeface="Cambria"/>
              </a:rPr>
              <a:t>: Enhance coordination among citizens, drivers, and authorities while using real-time data and community engagement to improve recycling, reuse, and citizen-friendly waste collection system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Literature Review </a:t>
            </a:r>
            <a:endParaRPr/>
          </a:p>
        </p:txBody>
      </p:sp>
      <p:graphicFrame>
        <p:nvGraphicFramePr>
          <p:cNvPr id="163" name="Google Shape;163;p8"/>
          <p:cNvGraphicFramePr/>
          <p:nvPr/>
        </p:nvGraphicFramePr>
        <p:xfrm>
          <a:off x="838200" y="1533376"/>
          <a:ext cx="3000000" cy="3000000"/>
        </p:xfrm>
        <a:graphic>
          <a:graphicData uri="http://schemas.openxmlformats.org/drawingml/2006/table">
            <a:tbl>
              <a:tblPr bandRow="1" firstCol="1" firstRow="1">
                <a:noFill/>
                <a:tableStyleId>{B500E7FA-E147-4610-839F-84F390696780}</a:tableStyleId>
              </a:tblPr>
              <a:tblGrid>
                <a:gridCol w="774475"/>
                <a:gridCol w="2724200"/>
                <a:gridCol w="3932525"/>
                <a:gridCol w="3733925"/>
              </a:tblGrid>
              <a:tr h="311900">
                <a:tc>
                  <a:txBody>
                    <a:bodyPr/>
                    <a:lstStyle/>
                    <a:p>
                      <a:pPr indent="0" lvl="0" marL="0" marR="0" rtl="0" algn="ctr">
                        <a:lnSpc>
                          <a:spcPct val="115000"/>
                        </a:lnSpc>
                        <a:spcBef>
                          <a:spcPts val="0"/>
                        </a:spcBef>
                        <a:spcAft>
                          <a:spcPts val="0"/>
                        </a:spcAft>
                        <a:buNone/>
                      </a:pPr>
                      <a:r>
                        <a:rPr lang="en-US" sz="1400" u="none" cap="none" strike="noStrike">
                          <a:solidFill>
                            <a:srgbClr val="002060"/>
                          </a:solidFill>
                          <a:latin typeface="Cambria"/>
                          <a:ea typeface="Cambria"/>
                          <a:cs typeface="Cambria"/>
                          <a:sym typeface="Cambria"/>
                        </a:rPr>
                        <a:t>Paper</a:t>
                      </a:r>
                      <a:endParaRPr sz="1400" u="none" cap="none" strike="noStrike">
                        <a:solidFill>
                          <a:srgbClr val="002060"/>
                        </a:solidFill>
                        <a:latin typeface="Cambria"/>
                        <a:ea typeface="Cambria"/>
                        <a:cs typeface="Cambria"/>
                        <a:sym typeface="Cambria"/>
                      </a:endParaRPr>
                    </a:p>
                  </a:txBody>
                  <a:tcPr marT="0" marB="0" marR="65975" marL="65975" anchor="ctr"/>
                </a:tc>
                <a:tc>
                  <a:txBody>
                    <a:bodyPr/>
                    <a:lstStyle/>
                    <a:p>
                      <a:pPr indent="0" lvl="0" marL="0" marR="0" rtl="0" algn="ctr">
                        <a:lnSpc>
                          <a:spcPct val="115000"/>
                        </a:lnSpc>
                        <a:spcBef>
                          <a:spcPts val="0"/>
                        </a:spcBef>
                        <a:spcAft>
                          <a:spcPts val="0"/>
                        </a:spcAft>
                        <a:buNone/>
                      </a:pPr>
                      <a:r>
                        <a:rPr lang="en-US" sz="1400" u="none" cap="none" strike="noStrike">
                          <a:solidFill>
                            <a:srgbClr val="002060"/>
                          </a:solidFill>
                          <a:latin typeface="Cambria"/>
                          <a:ea typeface="Cambria"/>
                          <a:cs typeface="Cambria"/>
                          <a:sym typeface="Cambria"/>
                        </a:rPr>
                        <a:t>Technology Used</a:t>
                      </a:r>
                      <a:endParaRPr sz="1400" u="none" cap="none" strike="noStrike">
                        <a:solidFill>
                          <a:srgbClr val="002060"/>
                        </a:solidFill>
                        <a:latin typeface="Cambria"/>
                        <a:ea typeface="Cambria"/>
                        <a:cs typeface="Cambria"/>
                        <a:sym typeface="Cambria"/>
                      </a:endParaRPr>
                    </a:p>
                  </a:txBody>
                  <a:tcPr marT="0" marB="0" marR="65975" marL="65975" anchor="ctr"/>
                </a:tc>
                <a:tc>
                  <a:txBody>
                    <a:bodyPr/>
                    <a:lstStyle/>
                    <a:p>
                      <a:pPr indent="0" lvl="0" marL="0" marR="0" rtl="0" algn="ctr">
                        <a:lnSpc>
                          <a:spcPct val="115000"/>
                        </a:lnSpc>
                        <a:spcBef>
                          <a:spcPts val="0"/>
                        </a:spcBef>
                        <a:spcAft>
                          <a:spcPts val="0"/>
                        </a:spcAft>
                        <a:buNone/>
                      </a:pPr>
                      <a:r>
                        <a:rPr lang="en-US" sz="1400" u="none" cap="none" strike="noStrike">
                          <a:solidFill>
                            <a:srgbClr val="002060"/>
                          </a:solidFill>
                          <a:latin typeface="Cambria"/>
                          <a:ea typeface="Cambria"/>
                          <a:cs typeface="Cambria"/>
                          <a:sym typeface="Cambria"/>
                        </a:rPr>
                        <a:t>Major Findings</a:t>
                      </a:r>
                      <a:endParaRPr sz="1400" u="none" cap="none" strike="noStrike">
                        <a:solidFill>
                          <a:srgbClr val="002060"/>
                        </a:solidFill>
                        <a:latin typeface="Cambria"/>
                        <a:ea typeface="Cambria"/>
                        <a:cs typeface="Cambria"/>
                        <a:sym typeface="Cambria"/>
                      </a:endParaRPr>
                    </a:p>
                  </a:txBody>
                  <a:tcPr marT="0" marB="0" marR="65975" marL="65975" anchor="ctr"/>
                </a:tc>
                <a:tc>
                  <a:txBody>
                    <a:bodyPr/>
                    <a:lstStyle/>
                    <a:p>
                      <a:pPr indent="0" lvl="0" marL="0" marR="0" rtl="0" algn="ctr">
                        <a:lnSpc>
                          <a:spcPct val="115000"/>
                        </a:lnSpc>
                        <a:spcBef>
                          <a:spcPts val="0"/>
                        </a:spcBef>
                        <a:spcAft>
                          <a:spcPts val="0"/>
                        </a:spcAft>
                        <a:buNone/>
                      </a:pPr>
                      <a:r>
                        <a:rPr lang="en-US" sz="1400" u="none" cap="none" strike="noStrike">
                          <a:solidFill>
                            <a:srgbClr val="002060"/>
                          </a:solidFill>
                          <a:latin typeface="Cambria"/>
                          <a:ea typeface="Cambria"/>
                          <a:cs typeface="Cambria"/>
                          <a:sym typeface="Cambria"/>
                        </a:rPr>
                        <a:t>Challenges/Limitations</a:t>
                      </a:r>
                      <a:endParaRPr sz="1400" u="none" cap="none" strike="noStrike">
                        <a:solidFill>
                          <a:srgbClr val="002060"/>
                        </a:solidFill>
                        <a:latin typeface="Cambria"/>
                        <a:ea typeface="Cambria"/>
                        <a:cs typeface="Cambria"/>
                        <a:sym typeface="Cambria"/>
                      </a:endParaRPr>
                    </a:p>
                  </a:txBody>
                  <a:tcPr marT="0" marB="0" marR="65975" marL="65975" anchor="ctr"/>
                </a:tc>
              </a:tr>
              <a:tr h="337200">
                <a:tc gridSpan="4">
                  <a:txBody>
                    <a:bodyPr/>
                    <a:lstStyle/>
                    <a:p>
                      <a:pPr indent="0" lvl="0" marL="0" marR="0" rtl="0" algn="ctr">
                        <a:lnSpc>
                          <a:spcPct val="115000"/>
                        </a:lnSpc>
                        <a:spcBef>
                          <a:spcPts val="0"/>
                        </a:spcBef>
                        <a:spcAft>
                          <a:spcPts val="0"/>
                        </a:spcAft>
                        <a:buNone/>
                      </a:pPr>
                      <a:r>
                        <a:rPr lang="en-US" sz="1500" u="none" cap="none" strike="noStrike">
                          <a:latin typeface="Cambria"/>
                          <a:ea typeface="Cambria"/>
                          <a:cs typeface="Cambria"/>
                          <a:sym typeface="Cambria"/>
                        </a:rPr>
                        <a:t>A. Smart Waste Collection Technologies </a:t>
                      </a:r>
                      <a:endParaRPr sz="1500" u="none" cap="none" strike="noStrike">
                        <a:latin typeface="Cambria"/>
                        <a:ea typeface="Cambria"/>
                        <a:cs typeface="Cambria"/>
                        <a:sym typeface="Cambria"/>
                      </a:endParaRPr>
                    </a:p>
                  </a:txBody>
                  <a:tcPr marT="0" marB="0" marR="65975" marL="65975" anchor="ctr">
                    <a:solidFill>
                      <a:srgbClr val="BBD6EE"/>
                    </a:solidFill>
                  </a:tcPr>
                </a:tc>
                <a:tc hMerge="1"/>
                <a:tc hMerge="1"/>
                <a:tc hMerge="1"/>
              </a:tr>
              <a:tr h="394675">
                <a:tc>
                  <a:txBody>
                    <a:bodyPr/>
                    <a:lstStyle/>
                    <a:p>
                      <a:pPr indent="0" lvl="0" marL="0" marR="0" rtl="0" algn="l">
                        <a:lnSpc>
                          <a:spcPct val="115000"/>
                        </a:lnSpc>
                        <a:spcBef>
                          <a:spcPts val="0"/>
                        </a:spcBef>
                        <a:spcAft>
                          <a:spcPts val="0"/>
                        </a:spcAft>
                        <a:buNone/>
                      </a:pPr>
                      <a:r>
                        <a:rPr lang="en-US" sz="1200" u="none" cap="none" strike="noStrike">
                          <a:solidFill>
                            <a:schemeClr val="dk1"/>
                          </a:solidFill>
                          <a:latin typeface="Cambria"/>
                          <a:ea typeface="Cambria"/>
                          <a:cs typeface="Cambria"/>
                          <a:sym typeface="Cambria"/>
                        </a:rPr>
                        <a:t>[2],[5], [15]</a:t>
                      </a:r>
                      <a:endParaRPr sz="1200" u="none" cap="none" strike="noStrike">
                        <a:solidFill>
                          <a:schemeClr val="dk1"/>
                        </a:solidFill>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IoT sensors, Arduino/ESP32, cloud storage</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Real-time bin monitoring improved routing efficiency</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Focused on sensing; lacked community engagement</a:t>
                      </a:r>
                      <a:endParaRPr sz="1400" u="none" cap="none" strike="noStrike">
                        <a:latin typeface="Cambria"/>
                        <a:ea typeface="Cambria"/>
                        <a:cs typeface="Cambria"/>
                        <a:sym typeface="Cambria"/>
                      </a:endParaRPr>
                    </a:p>
                  </a:txBody>
                  <a:tcPr marT="0" marB="0" marR="65975" marL="65975"/>
                </a:tc>
              </a:tr>
              <a:tr h="597000">
                <a:tc>
                  <a:txBody>
                    <a:bodyPr/>
                    <a:lstStyle/>
                    <a:p>
                      <a:pPr indent="0" lvl="0" marL="0" marR="0" rtl="0" algn="l">
                        <a:lnSpc>
                          <a:spcPct val="115000"/>
                        </a:lnSpc>
                        <a:spcBef>
                          <a:spcPts val="0"/>
                        </a:spcBef>
                        <a:spcAft>
                          <a:spcPts val="0"/>
                        </a:spcAft>
                        <a:buNone/>
                      </a:pPr>
                      <a:r>
                        <a:rPr lang="en-US" sz="1200" u="none" cap="none" strike="noStrike">
                          <a:latin typeface="Cambria"/>
                          <a:ea typeface="Cambria"/>
                          <a:cs typeface="Cambria"/>
                          <a:sym typeface="Cambria"/>
                        </a:rPr>
                        <a:t>[6], [3], [8],[14], [17]</a:t>
                      </a:r>
                      <a:endParaRPr sz="1200" u="none" cap="none" strike="noStrike">
                        <a:latin typeface="Cambria"/>
                        <a:ea typeface="Cambria"/>
                        <a:cs typeface="Cambria"/>
                        <a:sym typeface="Cambria"/>
                      </a:endParaRPr>
                    </a:p>
                  </a:txBody>
                  <a:tcPr marT="0" marB="0" marR="65975" marL="65975">
                    <a:solidFill>
                      <a:srgbClr val="9CC2E5">
                        <a:alpha val="20000"/>
                      </a:srgbClr>
                    </a:solidFill>
                  </a:tcPr>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Smart bins, GIS, auto-sorting, VRPTW, LNS algorithms, GPS, CVRP heuristics</a:t>
                      </a:r>
                      <a:endParaRPr sz="1400" u="none" cap="none" strike="noStrike">
                        <a:latin typeface="Cambria"/>
                        <a:ea typeface="Cambria"/>
                        <a:cs typeface="Cambria"/>
                        <a:sym typeface="Cambria"/>
                      </a:endParaRPr>
                    </a:p>
                  </a:txBody>
                  <a:tcPr marT="0" marB="0" marR="65975" marL="65975">
                    <a:solidFill>
                      <a:srgbClr val="9CC2E5">
                        <a:alpha val="20000"/>
                      </a:srgbClr>
                    </a:solidFill>
                  </a:tcPr>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Efficient sorting and energy recovery. Improved reporting, tracking, and user experience</a:t>
                      </a:r>
                      <a:endParaRPr sz="1400" u="none" cap="none" strike="noStrike">
                        <a:latin typeface="Cambria"/>
                        <a:ea typeface="Cambria"/>
                        <a:cs typeface="Cambria"/>
                        <a:sym typeface="Cambria"/>
                      </a:endParaRPr>
                    </a:p>
                  </a:txBody>
                  <a:tcPr marT="0" marB="0" marR="65975" marL="65975" anchor="ctr">
                    <a:solidFill>
                      <a:srgbClr val="9CC2E5">
                        <a:alpha val="20000"/>
                      </a:srgbClr>
                    </a:solidFill>
                  </a:tcPr>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Technical challenges, limited real-world use</a:t>
                      </a:r>
                      <a:endParaRPr sz="1400" u="none" cap="none" strike="noStrike">
                        <a:latin typeface="Cambria"/>
                        <a:ea typeface="Cambria"/>
                        <a:cs typeface="Cambria"/>
                        <a:sym typeface="Cambria"/>
                      </a:endParaRPr>
                    </a:p>
                  </a:txBody>
                  <a:tcPr marT="0" marB="0" marR="65975" marL="65975" anchor="ctr">
                    <a:solidFill>
                      <a:srgbClr val="9CC2E5">
                        <a:alpha val="20000"/>
                      </a:srgbClr>
                    </a:solidFill>
                  </a:tcPr>
                </a:tc>
              </a:tr>
              <a:tr h="517550">
                <a:tc>
                  <a:txBody>
                    <a:bodyPr/>
                    <a:lstStyle/>
                    <a:p>
                      <a:pPr indent="0" lvl="0" marL="0" marR="0" rtl="0" algn="l">
                        <a:lnSpc>
                          <a:spcPct val="115000"/>
                        </a:lnSpc>
                        <a:spcBef>
                          <a:spcPts val="0"/>
                        </a:spcBef>
                        <a:spcAft>
                          <a:spcPts val="0"/>
                        </a:spcAft>
                        <a:buNone/>
                      </a:pPr>
                      <a:r>
                        <a:rPr lang="en-US" sz="1200" u="none" cap="none" strike="noStrike">
                          <a:latin typeface="Cambria"/>
                          <a:ea typeface="Cambria"/>
                          <a:cs typeface="Cambria"/>
                          <a:sym typeface="Cambria"/>
                        </a:rPr>
                        <a:t>[16], [12]</a:t>
                      </a:r>
                      <a:endParaRPr sz="12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GPS, shortest path algorithm, Truck tracking</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Real-time tracking, Optimized routes reduced travel time &amp; fuel</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Communication gaps, limited IoT integration</a:t>
                      </a:r>
                      <a:endParaRPr sz="1400" u="none" cap="none" strike="noStrike">
                        <a:latin typeface="Cambria"/>
                        <a:ea typeface="Cambria"/>
                        <a:cs typeface="Cambria"/>
                        <a:sym typeface="Cambria"/>
                      </a:endParaRPr>
                    </a:p>
                  </a:txBody>
                  <a:tcPr marT="0" marB="0" marR="65975" marL="65975" anchor="ctr"/>
                </a:tc>
              </a:tr>
              <a:tr h="597000">
                <a:tc>
                  <a:txBody>
                    <a:bodyPr/>
                    <a:lstStyle/>
                    <a:p>
                      <a:pPr indent="0" lvl="0" marL="0" marR="0" rtl="0" algn="l">
                        <a:lnSpc>
                          <a:spcPct val="115000"/>
                        </a:lnSpc>
                        <a:spcBef>
                          <a:spcPts val="0"/>
                        </a:spcBef>
                        <a:spcAft>
                          <a:spcPts val="0"/>
                        </a:spcAft>
                        <a:buNone/>
                      </a:pPr>
                      <a:r>
                        <a:rPr lang="en-US" sz="1200" u="none" cap="none" strike="noStrike">
                          <a:latin typeface="Cambria"/>
                          <a:ea typeface="Cambria"/>
                          <a:cs typeface="Cambria"/>
                          <a:sym typeface="Cambria"/>
                        </a:rPr>
                        <a:t>[1],[10], [11]</a:t>
                      </a:r>
                      <a:endParaRPr sz="1200" u="none" cap="none" strike="noStrike">
                        <a:latin typeface="Cambria"/>
                        <a:ea typeface="Cambria"/>
                        <a:cs typeface="Cambria"/>
                        <a:sym typeface="Cambria"/>
                      </a:endParaRPr>
                    </a:p>
                  </a:txBody>
                  <a:tcPr marT="0" marB="0" marR="65975" marL="65975">
                    <a:solidFill>
                      <a:srgbClr val="9CC2E5">
                        <a:alpha val="20000"/>
                      </a:srgbClr>
                    </a:solidFill>
                  </a:tcPr>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Mobile/web apps for scheduling, notifications, trading recyclables</a:t>
                      </a:r>
                      <a:endParaRPr sz="1400" u="none" cap="none" strike="noStrike">
                        <a:latin typeface="Cambria"/>
                        <a:ea typeface="Cambria"/>
                        <a:cs typeface="Cambria"/>
                        <a:sym typeface="Cambria"/>
                      </a:endParaRPr>
                    </a:p>
                  </a:txBody>
                  <a:tcPr marT="0" marB="0" marR="65975" marL="65975">
                    <a:solidFill>
                      <a:srgbClr val="9CC2E5">
                        <a:alpha val="20000"/>
                      </a:srgbClr>
                    </a:solidFill>
                  </a:tcPr>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Boosted engagement, aligned with sustainability goals</a:t>
                      </a:r>
                      <a:endParaRPr sz="1400" u="none" cap="none" strike="noStrike">
                        <a:latin typeface="Cambria"/>
                        <a:ea typeface="Cambria"/>
                        <a:cs typeface="Cambria"/>
                        <a:sym typeface="Cambria"/>
                      </a:endParaRPr>
                    </a:p>
                  </a:txBody>
                  <a:tcPr marT="0" marB="0" marR="65975" marL="65975">
                    <a:solidFill>
                      <a:srgbClr val="9CC2E5">
                        <a:alpha val="20000"/>
                      </a:srgbClr>
                    </a:solidFill>
                  </a:tcPr>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Not integrated with IoT or routing systems</a:t>
                      </a:r>
                      <a:endParaRPr sz="1400" u="none" cap="none" strike="noStrike">
                        <a:latin typeface="Cambria"/>
                        <a:ea typeface="Cambria"/>
                        <a:cs typeface="Cambria"/>
                        <a:sym typeface="Cambria"/>
                      </a:endParaRPr>
                    </a:p>
                  </a:txBody>
                  <a:tcPr marT="0" marB="0" marR="65975" marL="65975" anchor="ctr">
                    <a:solidFill>
                      <a:srgbClr val="9CC2E5">
                        <a:alpha val="20000"/>
                      </a:srgbClr>
                    </a:solidFill>
                  </a:tcPr>
                </a:tc>
              </a:tr>
              <a:tr h="394675">
                <a:tc gridSpan="4">
                  <a:txBody>
                    <a:bodyPr/>
                    <a:lstStyle/>
                    <a:p>
                      <a:pPr indent="0" lvl="0" marL="0" marR="0" rtl="0" algn="ctr">
                        <a:lnSpc>
                          <a:spcPct val="115000"/>
                        </a:lnSpc>
                        <a:spcBef>
                          <a:spcPts val="0"/>
                        </a:spcBef>
                        <a:spcAft>
                          <a:spcPts val="0"/>
                        </a:spcAft>
                        <a:buClr>
                          <a:schemeClr val="dk1"/>
                        </a:buClr>
                        <a:buSzPts val="1500"/>
                        <a:buFont typeface="Cambria"/>
                        <a:buNone/>
                      </a:pPr>
                      <a:r>
                        <a:rPr b="1" lang="en-US" sz="1500" u="none" cap="none" strike="noStrike">
                          <a:solidFill>
                            <a:schemeClr val="dk1"/>
                          </a:solidFill>
                          <a:latin typeface="Cambria"/>
                          <a:ea typeface="Cambria"/>
                          <a:cs typeface="Cambria"/>
                          <a:sym typeface="Cambria"/>
                        </a:rPr>
                        <a:t>B. Community Sharing in Waste Collection</a:t>
                      </a:r>
                      <a:endParaRPr b="1" sz="1500" u="none" cap="none" strike="noStrike">
                        <a:solidFill>
                          <a:schemeClr val="dk1"/>
                        </a:solidFill>
                        <a:latin typeface="Cambria"/>
                        <a:ea typeface="Cambria"/>
                        <a:cs typeface="Cambria"/>
                        <a:sym typeface="Cambria"/>
                      </a:endParaRPr>
                    </a:p>
                  </a:txBody>
                  <a:tcPr marT="0" marB="0" marR="65975" marL="65975" anchor="ctr">
                    <a:solidFill>
                      <a:srgbClr val="BBD6EE"/>
                    </a:solidFill>
                  </a:tcPr>
                </a:tc>
                <a:tc hMerge="1"/>
                <a:tc hMerge="1"/>
                <a:tc hMerge="1"/>
              </a:tr>
              <a:tr h="394675">
                <a:tc>
                  <a:txBody>
                    <a:bodyPr/>
                    <a:lstStyle/>
                    <a:p>
                      <a:pPr indent="0" lvl="0" marL="0" marR="0" rtl="0" algn="l">
                        <a:lnSpc>
                          <a:spcPct val="115000"/>
                        </a:lnSpc>
                        <a:spcBef>
                          <a:spcPts val="0"/>
                        </a:spcBef>
                        <a:spcAft>
                          <a:spcPts val="0"/>
                        </a:spcAft>
                        <a:buNone/>
                      </a:pPr>
                      <a:r>
                        <a:rPr lang="en-US" sz="1200" u="none" cap="none" strike="noStrike">
                          <a:latin typeface="Cambria"/>
                          <a:ea typeface="Cambria"/>
                          <a:cs typeface="Cambria"/>
                          <a:sym typeface="Cambria"/>
                        </a:rPr>
                        <a:t>[9],[7] [4],[1]</a:t>
                      </a:r>
                      <a:endParaRPr sz="12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Web/mobile apps, marketplaces, incentive systems</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Supported reuse, recycling, eco-craftsmen, and citizen awareness</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Focused on economic reuse or incentives; not daily waste collection</a:t>
                      </a:r>
                      <a:endParaRPr sz="1400" u="none" cap="none" strike="noStrike">
                        <a:latin typeface="Cambria"/>
                        <a:ea typeface="Cambria"/>
                        <a:cs typeface="Cambria"/>
                        <a:sym typeface="Cambria"/>
                      </a:endParaRPr>
                    </a:p>
                  </a:txBody>
                  <a:tcPr marT="0" marB="0" marR="65975" marL="65975"/>
                </a:tc>
              </a:tr>
              <a:tr h="394675">
                <a:tc gridSpan="4">
                  <a:txBody>
                    <a:bodyPr/>
                    <a:lstStyle/>
                    <a:p>
                      <a:pPr indent="0" lvl="0" marL="0" marR="0" rtl="0" algn="ctr">
                        <a:lnSpc>
                          <a:spcPct val="115000"/>
                        </a:lnSpc>
                        <a:spcBef>
                          <a:spcPts val="0"/>
                        </a:spcBef>
                        <a:spcAft>
                          <a:spcPts val="0"/>
                        </a:spcAft>
                        <a:buNone/>
                      </a:pPr>
                      <a:r>
                        <a:rPr lang="en-US" sz="1500" u="none" cap="none" strike="noStrike">
                          <a:latin typeface="Cambria"/>
                          <a:ea typeface="Cambria"/>
                          <a:cs typeface="Cambria"/>
                          <a:sym typeface="Cambria"/>
                        </a:rPr>
                        <a:t>C. Intersection: Technology + Community</a:t>
                      </a:r>
                      <a:endParaRPr sz="1500" u="none" cap="none" strike="noStrike">
                        <a:latin typeface="Cambria"/>
                        <a:ea typeface="Cambria"/>
                        <a:cs typeface="Cambria"/>
                        <a:sym typeface="Cambria"/>
                      </a:endParaRPr>
                    </a:p>
                  </a:txBody>
                  <a:tcPr marT="0" marB="0" marR="65975" marL="65975" anchor="ctr">
                    <a:solidFill>
                      <a:srgbClr val="BBD6EE"/>
                    </a:solidFill>
                  </a:tcPr>
                </a:tc>
                <a:tc hMerge="1"/>
                <a:tc hMerge="1"/>
                <a:tc hMerge="1"/>
              </a:tr>
              <a:tr h="177800">
                <a:tc>
                  <a:txBody>
                    <a:bodyPr/>
                    <a:lstStyle/>
                    <a:p>
                      <a:pPr indent="0" lvl="0" marL="0" marR="0" rtl="0" algn="l">
                        <a:lnSpc>
                          <a:spcPct val="115000"/>
                        </a:lnSpc>
                        <a:spcBef>
                          <a:spcPts val="0"/>
                        </a:spcBef>
                        <a:spcAft>
                          <a:spcPts val="0"/>
                        </a:spcAft>
                        <a:buNone/>
                      </a:pPr>
                      <a:r>
                        <a:rPr lang="en-US" sz="1200" u="none" cap="none" strike="noStrike">
                          <a:latin typeface="Cambria"/>
                          <a:ea typeface="Cambria"/>
                          <a:cs typeface="Cambria"/>
                          <a:sym typeface="Cambria"/>
                        </a:rPr>
                        <a:t>[4],[16], [18], [9], [13]</a:t>
                      </a:r>
                      <a:endParaRPr sz="12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Mobile/Web apps,  IoT bin data, community-sharing platforms, Reporting, Optimized Routes</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Improved citizen-authority communication, tracking with reduced errors, and long-term recycling behavior. Combined social innovation with waste reduction.</a:t>
                      </a:r>
                      <a:endParaRPr sz="1400" u="none" cap="none" strike="noStrike">
                        <a:latin typeface="Cambria"/>
                        <a:ea typeface="Cambria"/>
                        <a:cs typeface="Cambria"/>
                        <a:sym typeface="Cambria"/>
                      </a:endParaRPr>
                    </a:p>
                  </a:txBody>
                  <a:tcPr marT="0" marB="0" marR="65975" marL="65975"/>
                </a:tc>
                <a:tc>
                  <a:txBody>
                    <a:bodyPr/>
                    <a:lstStyle/>
                    <a:p>
                      <a:pPr indent="0" lvl="0" marL="0" marR="0" rtl="0" algn="l">
                        <a:lnSpc>
                          <a:spcPct val="115000"/>
                        </a:lnSpc>
                        <a:spcBef>
                          <a:spcPts val="0"/>
                        </a:spcBef>
                        <a:spcAft>
                          <a:spcPts val="0"/>
                        </a:spcAft>
                        <a:buNone/>
                      </a:pPr>
                      <a:r>
                        <a:rPr lang="en-US" sz="1400" u="none" cap="none" strike="noStrike">
                          <a:latin typeface="Cambria"/>
                          <a:ea typeface="Cambria"/>
                          <a:cs typeface="Cambria"/>
                          <a:sym typeface="Cambria"/>
                        </a:rPr>
                        <a:t>Limited scope; not fully integrated framework combining IoT, AI, routing, and No reuse &amp; sharing or incentives included also not address citizen-friendly apps and web applications</a:t>
                      </a:r>
                      <a:endParaRPr sz="1400" u="none" cap="none" strike="noStrike">
                        <a:latin typeface="Cambria"/>
                        <a:ea typeface="Cambria"/>
                        <a:cs typeface="Cambria"/>
                        <a:sym typeface="Cambria"/>
                      </a:endParaRPr>
                    </a:p>
                  </a:txBody>
                  <a:tcPr marT="0" marB="0" marR="65975" marL="6597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Methodology</a:t>
            </a:r>
            <a:endParaRPr/>
          </a:p>
        </p:txBody>
      </p:sp>
      <p:sp>
        <p:nvSpPr>
          <p:cNvPr id="169" name="Google Shape;16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70" name="Google Shape;17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71" name="Google Shape;17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2" name="Google Shape;172;p9"/>
          <p:cNvSpPr txBox="1"/>
          <p:nvPr/>
        </p:nvSpPr>
        <p:spPr>
          <a:xfrm>
            <a:off x="628937" y="1690688"/>
            <a:ext cx="11137200" cy="3889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Cambria"/>
                <a:ea typeface="Cambria"/>
                <a:cs typeface="Cambria"/>
                <a:sym typeface="Cambria"/>
              </a:rPr>
              <a:t>This study followed the </a:t>
            </a:r>
            <a:r>
              <a:rPr b="1" lang="en-US" sz="2200">
                <a:solidFill>
                  <a:schemeClr val="dk1"/>
                </a:solidFill>
                <a:latin typeface="Cambria"/>
                <a:ea typeface="Cambria"/>
                <a:cs typeface="Cambria"/>
                <a:sym typeface="Cambria"/>
              </a:rPr>
              <a:t>System Development Life Cycle (SDLC)</a:t>
            </a:r>
            <a:r>
              <a:rPr lang="en-US" sz="2200">
                <a:solidFill>
                  <a:schemeClr val="dk1"/>
                </a:solidFill>
                <a:latin typeface="Cambria"/>
                <a:ea typeface="Cambria"/>
                <a:cs typeface="Cambria"/>
                <a:sym typeface="Cambria"/>
              </a:rPr>
              <a:t> approach to design and develop the proposed smart waste collection system, </a:t>
            </a:r>
            <a:r>
              <a:rPr i="1" lang="en-US" sz="2200">
                <a:solidFill>
                  <a:schemeClr val="dk1"/>
                </a:solidFill>
                <a:latin typeface="Cambria"/>
                <a:ea typeface="Cambria"/>
                <a:cs typeface="Cambria"/>
                <a:sym typeface="Cambria"/>
              </a:rPr>
              <a:t>Clea-Ro</a:t>
            </a:r>
            <a:endParaRPr/>
          </a:p>
          <a:p>
            <a:pPr indent="-457200" lvl="0" marL="457200" marR="0" rtl="0" algn="just">
              <a:spcBef>
                <a:spcPts val="1600"/>
              </a:spcBef>
              <a:spcAft>
                <a:spcPts val="0"/>
              </a:spcAft>
              <a:buClr>
                <a:schemeClr val="dk1"/>
              </a:buClr>
              <a:buSzPts val="2200"/>
              <a:buFont typeface="Calibri"/>
              <a:buAutoNum type="arabicParenR"/>
            </a:pPr>
            <a:r>
              <a:rPr b="1" lang="en-US" sz="2200">
                <a:solidFill>
                  <a:schemeClr val="dk1"/>
                </a:solidFill>
                <a:latin typeface="Cambria"/>
                <a:ea typeface="Cambria"/>
                <a:cs typeface="Cambria"/>
                <a:sym typeface="Cambria"/>
              </a:rPr>
              <a:t>Planning</a:t>
            </a:r>
            <a:r>
              <a:rPr lang="en-US" sz="2200">
                <a:solidFill>
                  <a:schemeClr val="dk1"/>
                </a:solidFill>
                <a:latin typeface="Cambria"/>
                <a:ea typeface="Cambria"/>
                <a:cs typeface="Cambria"/>
                <a:sym typeface="Cambria"/>
              </a:rPr>
              <a:t> -Identified inefficiencies in existing municipal waste collection, including fixed schedules, overflowing bins, irregular pickups, limited citizen participation, and lack of reuse mechanisms. Defined system goals and boundaries, and conducted a feasibility study covering technical, financial, and operational aspects</a:t>
            </a:r>
            <a:endParaRPr/>
          </a:p>
          <a:p>
            <a:pPr indent="-457200" lvl="0" marL="457200" marR="0" rtl="0" algn="just">
              <a:spcBef>
                <a:spcPts val="1600"/>
              </a:spcBef>
              <a:spcAft>
                <a:spcPts val="0"/>
              </a:spcAft>
              <a:buClr>
                <a:schemeClr val="dk1"/>
              </a:buClr>
              <a:buSzPts val="2200"/>
              <a:buFont typeface="Calibri"/>
              <a:buAutoNum type="arabicParenR"/>
            </a:pPr>
            <a:r>
              <a:rPr b="1" lang="en-US" sz="2200">
                <a:solidFill>
                  <a:schemeClr val="dk1"/>
                </a:solidFill>
                <a:latin typeface="Cambria"/>
                <a:ea typeface="Cambria"/>
                <a:cs typeface="Cambria"/>
                <a:sym typeface="Cambria"/>
              </a:rPr>
              <a:t>Requirement Gathering and Analysis </a:t>
            </a:r>
            <a:r>
              <a:rPr lang="en-US" sz="2200">
                <a:solidFill>
                  <a:schemeClr val="dk1"/>
                </a:solidFill>
                <a:latin typeface="Cambria"/>
                <a:ea typeface="Cambria"/>
                <a:cs typeface="Cambria"/>
                <a:sym typeface="Cambria"/>
              </a:rPr>
              <a:t>– Reviewed 50+ papers, deeply analyzed 18. Also Conducted Stakeholder interviews with municipal councils, truck drivers, residents, shop owners and revealing the need for multilingual support, community sharing features, and real-time notifications</a:t>
            </a:r>
            <a:endParaRPr sz="2200">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Methodology Cont.</a:t>
            </a:r>
            <a:endParaRPr/>
          </a:p>
        </p:txBody>
      </p:sp>
      <p:sp>
        <p:nvSpPr>
          <p:cNvPr id="178" name="Google Shape;17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79" name="Google Shape;17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80" name="Google Shape;18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1" name="Google Shape;181;p10"/>
          <p:cNvSpPr txBox="1"/>
          <p:nvPr/>
        </p:nvSpPr>
        <p:spPr>
          <a:xfrm>
            <a:off x="812308" y="1574821"/>
            <a:ext cx="5659500" cy="4515000"/>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chemeClr val="dk1"/>
              </a:buClr>
              <a:buSzPts val="2200"/>
              <a:buFont typeface="Calibri"/>
              <a:buAutoNum type="arabicParenR" startAt="3"/>
            </a:pPr>
            <a:r>
              <a:rPr b="1" lang="en-US" sz="2200">
                <a:solidFill>
                  <a:schemeClr val="dk1"/>
                </a:solidFill>
                <a:latin typeface="Cambria"/>
                <a:ea typeface="Cambria"/>
                <a:cs typeface="Cambria"/>
                <a:sym typeface="Cambria"/>
              </a:rPr>
              <a:t>System Design  </a:t>
            </a:r>
            <a:endParaRPr/>
          </a:p>
          <a:p>
            <a:pPr indent="-342900" lvl="0" marL="342900" marR="0" rtl="0" algn="just">
              <a:spcBef>
                <a:spcPts val="12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Web Dashboard (Admins): </a:t>
            </a:r>
            <a:r>
              <a:rPr lang="en-US" sz="2200">
                <a:solidFill>
                  <a:schemeClr val="dk1"/>
                </a:solidFill>
                <a:latin typeface="Cambria"/>
                <a:ea typeface="Cambria"/>
                <a:cs typeface="Cambria"/>
                <a:sym typeface="Cambria"/>
              </a:rPr>
              <a:t>Real-time bin monitoring, truck scheduling, route management, and reporting</a:t>
            </a:r>
            <a:endParaRPr/>
          </a:p>
          <a:p>
            <a:pPr indent="-342900" lvl="0" marL="342900" marR="0" rtl="0" algn="just">
              <a:spcBef>
                <a:spcPts val="8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Mobile App: Residents - </a:t>
            </a:r>
            <a:r>
              <a:rPr lang="en-US" sz="2200">
                <a:solidFill>
                  <a:schemeClr val="dk1"/>
                </a:solidFill>
                <a:latin typeface="Cambria"/>
                <a:ea typeface="Cambria"/>
                <a:cs typeface="Cambria"/>
                <a:sym typeface="Cambria"/>
              </a:rPr>
              <a:t>Monitor bins, request pickups, share reusable items, receive notifications; multilingual support.          </a:t>
            </a:r>
            <a:r>
              <a:rPr b="1" lang="en-US" sz="2200">
                <a:solidFill>
                  <a:schemeClr val="dk1"/>
                </a:solidFill>
                <a:latin typeface="Cambria"/>
                <a:ea typeface="Cambria"/>
                <a:cs typeface="Cambria"/>
                <a:sym typeface="Cambria"/>
              </a:rPr>
              <a:t>Drivers - </a:t>
            </a:r>
            <a:r>
              <a:rPr lang="en-US" sz="2200">
                <a:solidFill>
                  <a:schemeClr val="dk1"/>
                </a:solidFill>
                <a:latin typeface="Cambria"/>
                <a:ea typeface="Cambria"/>
                <a:cs typeface="Cambria"/>
                <a:sym typeface="Cambria"/>
              </a:rPr>
              <a:t>Optimized navigation and task management</a:t>
            </a:r>
            <a:endParaRPr/>
          </a:p>
          <a:p>
            <a:pPr indent="-342900" lvl="0" marL="342900" marR="0" rtl="0" algn="just">
              <a:spcBef>
                <a:spcPts val="8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IoT Smart Bins: </a:t>
            </a:r>
            <a:r>
              <a:rPr lang="en-US" sz="2200">
                <a:solidFill>
                  <a:schemeClr val="dk1"/>
                </a:solidFill>
                <a:latin typeface="Cambria"/>
                <a:ea typeface="Cambria"/>
                <a:cs typeface="Cambria"/>
                <a:sym typeface="Cambria"/>
              </a:rPr>
              <a:t>ESP32, sensors, GPS; detect fill-level, location, tampering, and send data wirelessly</a:t>
            </a:r>
            <a:endParaRPr/>
          </a:p>
        </p:txBody>
      </p:sp>
      <p:pic>
        <p:nvPicPr>
          <p:cNvPr descr="A diagram of a diagram of a cloud computing system&#10;&#10;AI-generated content may be incorrect." id="182" name="Google Shape;182;p10"/>
          <p:cNvPicPr preferRelativeResize="0"/>
          <p:nvPr/>
        </p:nvPicPr>
        <p:blipFill rotWithShape="1">
          <a:blip r:embed="rId3">
            <a:alphaModFix/>
          </a:blip>
          <a:srcRect b="2561" l="1165" r="4826" t="0"/>
          <a:stretch/>
        </p:blipFill>
        <p:spPr>
          <a:xfrm>
            <a:off x="6668443" y="1818988"/>
            <a:ext cx="5319403" cy="4405312"/>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Methodology Cont.</a:t>
            </a:r>
            <a:endParaRPr/>
          </a:p>
        </p:txBody>
      </p:sp>
      <p:sp>
        <p:nvSpPr>
          <p:cNvPr id="188" name="Google Shape;18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189" name="Google Shape;18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90" name="Google Shape;19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1" name="Google Shape;191;p11"/>
          <p:cNvSpPr txBox="1"/>
          <p:nvPr/>
        </p:nvSpPr>
        <p:spPr>
          <a:xfrm>
            <a:off x="628937" y="1690688"/>
            <a:ext cx="6726900" cy="4361100"/>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chemeClr val="dk1"/>
              </a:buClr>
              <a:buSzPts val="2200"/>
              <a:buFont typeface="Calibri"/>
              <a:buAutoNum type="arabicParenR" startAt="4"/>
            </a:pPr>
            <a:r>
              <a:rPr b="1" lang="en-US" sz="2200">
                <a:solidFill>
                  <a:schemeClr val="dk1"/>
                </a:solidFill>
                <a:latin typeface="Cambria"/>
                <a:ea typeface="Cambria"/>
                <a:cs typeface="Cambria"/>
                <a:sym typeface="Cambria"/>
              </a:rPr>
              <a:t>Implementation: </a:t>
            </a:r>
            <a:r>
              <a:rPr lang="en-US" sz="2200">
                <a:solidFill>
                  <a:schemeClr val="dk1"/>
                </a:solidFill>
                <a:latin typeface="Cambria"/>
                <a:ea typeface="Cambria"/>
                <a:cs typeface="Cambria"/>
                <a:sym typeface="Cambria"/>
              </a:rPr>
              <a:t>ESP32-based IoT bins send real-time data to Firebase. Admin panel (React) and mobile app (Flutter) support route optimization, notifications, multilingual support, and community sharing. Backend uses Node.js/Express.js with REST APIs</a:t>
            </a:r>
            <a:endParaRPr/>
          </a:p>
          <a:p>
            <a:pPr indent="-457200" lvl="0" marL="457200" marR="0" rtl="0" algn="just">
              <a:spcBef>
                <a:spcPts val="1600"/>
              </a:spcBef>
              <a:spcAft>
                <a:spcPts val="0"/>
              </a:spcAft>
              <a:buClr>
                <a:schemeClr val="dk1"/>
              </a:buClr>
              <a:buSzPts val="2200"/>
              <a:buFont typeface="Calibri"/>
              <a:buAutoNum type="arabicParenR" startAt="4"/>
            </a:pPr>
            <a:r>
              <a:rPr b="1" lang="en-US" sz="2200">
                <a:solidFill>
                  <a:schemeClr val="dk1"/>
                </a:solidFill>
                <a:latin typeface="Cambria"/>
                <a:ea typeface="Cambria"/>
                <a:cs typeface="Cambria"/>
                <a:sym typeface="Cambria"/>
              </a:rPr>
              <a:t>Testing: </a:t>
            </a:r>
            <a:r>
              <a:rPr lang="en-US" sz="2200">
                <a:solidFill>
                  <a:schemeClr val="dk1"/>
                </a:solidFill>
                <a:latin typeface="Cambria"/>
                <a:ea typeface="Cambria"/>
                <a:cs typeface="Cambria"/>
                <a:sym typeface="Cambria"/>
              </a:rPr>
              <a:t>Testing evaluates sensor accuracy, interface usability, communication reliability, notifications, pickup scheduling, and community-sharing features. Unit, integration, and interface tests ensure all modules function correctly</a:t>
            </a:r>
            <a:endParaRPr/>
          </a:p>
        </p:txBody>
      </p:sp>
      <p:pic>
        <p:nvPicPr>
          <p:cNvPr descr="A diagram of a circuit board&#10;&#10;AI-generated content may be incorrect." id="192" name="Google Shape;192;p11"/>
          <p:cNvPicPr preferRelativeResize="0"/>
          <p:nvPr/>
        </p:nvPicPr>
        <p:blipFill rotWithShape="1">
          <a:blip r:embed="rId3">
            <a:alphaModFix/>
          </a:blip>
          <a:srcRect b="2585" l="6596" r="6169" t="0"/>
          <a:stretch/>
        </p:blipFill>
        <p:spPr>
          <a:xfrm>
            <a:off x="7467600" y="1690687"/>
            <a:ext cx="4541520" cy="4448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Results &amp; Discussion </a:t>
            </a:r>
            <a:endParaRPr/>
          </a:p>
        </p:txBody>
      </p:sp>
      <p:sp>
        <p:nvSpPr>
          <p:cNvPr id="199" name="Google Shape;199;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00" name="Google Shape;200;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01" name="Google Shape;20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12"/>
          <p:cNvSpPr txBox="1"/>
          <p:nvPr/>
        </p:nvSpPr>
        <p:spPr>
          <a:xfrm>
            <a:off x="527337" y="1591433"/>
            <a:ext cx="7626000" cy="4915200"/>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000"/>
              <a:buFont typeface="Noto Sans Symbols"/>
              <a:buChar char="▪"/>
            </a:pPr>
            <a:r>
              <a:rPr b="1" lang="en-US" sz="2000">
                <a:solidFill>
                  <a:schemeClr val="dk1"/>
                </a:solidFill>
                <a:latin typeface="Cambria"/>
                <a:ea typeface="Cambria"/>
                <a:cs typeface="Cambria"/>
                <a:sym typeface="Cambria"/>
              </a:rPr>
              <a:t>Addresses inefficiencies: </a:t>
            </a:r>
            <a:r>
              <a:rPr lang="en-US" sz="2000">
                <a:solidFill>
                  <a:schemeClr val="dk1"/>
                </a:solidFill>
                <a:latin typeface="Cambria"/>
                <a:ea typeface="Cambria"/>
                <a:cs typeface="Cambria"/>
                <a:sym typeface="Cambria"/>
              </a:rPr>
              <a:t>irregular pickups, overflowing bins, low citizen participation</a:t>
            </a:r>
            <a:endParaRPr/>
          </a:p>
          <a:p>
            <a:pPr indent="-342900" lvl="0" marL="342900" marR="0" rtl="0" algn="just">
              <a:spcBef>
                <a:spcPts val="1600"/>
              </a:spcBef>
              <a:spcAft>
                <a:spcPts val="0"/>
              </a:spcAft>
              <a:buClr>
                <a:schemeClr val="dk1"/>
              </a:buClr>
              <a:buSzPts val="2000"/>
              <a:buFont typeface="Noto Sans Symbols"/>
              <a:buChar char="▪"/>
            </a:pPr>
            <a:r>
              <a:rPr b="1" lang="en-US" sz="2000">
                <a:solidFill>
                  <a:schemeClr val="dk1"/>
                </a:solidFill>
                <a:latin typeface="Cambria"/>
                <a:ea typeface="Cambria"/>
                <a:cs typeface="Cambria"/>
                <a:sym typeface="Cambria"/>
              </a:rPr>
              <a:t>Real-Time Monitoring: </a:t>
            </a:r>
            <a:r>
              <a:rPr lang="en-US" sz="2000">
                <a:solidFill>
                  <a:schemeClr val="dk1"/>
                </a:solidFill>
                <a:latin typeface="Cambria"/>
                <a:ea typeface="Cambria"/>
                <a:cs typeface="Cambria"/>
                <a:sym typeface="Cambria"/>
              </a:rPr>
              <a:t>Bins transmit fill-level data to server; visualized on dashboard and app; residents can request pickups proactively</a:t>
            </a:r>
            <a:endParaRPr/>
          </a:p>
          <a:p>
            <a:pPr indent="-342900" lvl="0" marL="342900" marR="0" rtl="0" algn="just">
              <a:spcBef>
                <a:spcPts val="1600"/>
              </a:spcBef>
              <a:spcAft>
                <a:spcPts val="0"/>
              </a:spcAft>
              <a:buClr>
                <a:schemeClr val="dk1"/>
              </a:buClr>
              <a:buSzPts val="2000"/>
              <a:buFont typeface="Noto Sans Symbols"/>
              <a:buChar char="▪"/>
            </a:pPr>
            <a:r>
              <a:rPr b="1" lang="en-US" sz="2000">
                <a:solidFill>
                  <a:schemeClr val="dk1"/>
                </a:solidFill>
                <a:latin typeface="Cambria"/>
                <a:ea typeface="Cambria"/>
                <a:cs typeface="Cambria"/>
                <a:sym typeface="Cambria"/>
              </a:rPr>
              <a:t>Admin Dashboard: </a:t>
            </a:r>
            <a:r>
              <a:rPr lang="en-US" sz="2000">
                <a:solidFill>
                  <a:schemeClr val="dk1"/>
                </a:solidFill>
                <a:latin typeface="Cambria"/>
                <a:ea typeface="Cambria"/>
                <a:cs typeface="Cambria"/>
                <a:sym typeface="Cambria"/>
              </a:rPr>
              <a:t>T</a:t>
            </a:r>
            <a:r>
              <a:rPr lang="en-US" sz="2000">
                <a:solidFill>
                  <a:schemeClr val="dk1"/>
                </a:solidFill>
                <a:latin typeface="Cambria"/>
                <a:ea typeface="Cambria"/>
                <a:cs typeface="Cambria"/>
                <a:sym typeface="Cambria"/>
              </a:rPr>
              <a:t>rack bins, assign routes, monitor trucks, manage feedback; Google Maps for optimized routing</a:t>
            </a:r>
            <a:endParaRPr/>
          </a:p>
          <a:p>
            <a:pPr indent="-342900" lvl="0" marL="342900" marR="0" rtl="0" algn="just">
              <a:spcBef>
                <a:spcPts val="1600"/>
              </a:spcBef>
              <a:spcAft>
                <a:spcPts val="0"/>
              </a:spcAft>
              <a:buClr>
                <a:schemeClr val="dk1"/>
              </a:buClr>
              <a:buSzPts val="2000"/>
              <a:buFont typeface="Noto Sans Symbols"/>
              <a:buChar char="▪"/>
            </a:pPr>
            <a:r>
              <a:rPr b="1" lang="en-US" sz="2000">
                <a:solidFill>
                  <a:schemeClr val="dk1"/>
                </a:solidFill>
                <a:latin typeface="Cambria"/>
                <a:ea typeface="Cambria"/>
                <a:cs typeface="Cambria"/>
                <a:sym typeface="Cambria"/>
              </a:rPr>
              <a:t>Resident App:</a:t>
            </a:r>
            <a:r>
              <a:rPr lang="en-US" sz="2000">
                <a:solidFill>
                  <a:schemeClr val="dk1"/>
                </a:solidFill>
                <a:latin typeface="Cambria"/>
                <a:ea typeface="Cambria"/>
                <a:cs typeface="Cambria"/>
                <a:sym typeface="Cambria"/>
              </a:rPr>
              <a:t> Multilingual (Sinhala, Tamil, English); monitor bins, request pickups, report issues, track trucks, access recycling tips and community sharing feature. Driver App: Optimized navigation, task updates, notifications for efficient collection</a:t>
            </a:r>
            <a:endParaRPr/>
          </a:p>
          <a:p>
            <a:pPr indent="-342900" lvl="0" marL="342900" marR="0" rtl="0" algn="just">
              <a:spcBef>
                <a:spcPts val="1600"/>
              </a:spcBef>
              <a:spcAft>
                <a:spcPts val="0"/>
              </a:spcAft>
              <a:buClr>
                <a:schemeClr val="dk1"/>
              </a:buClr>
              <a:buSzPts val="2000"/>
              <a:buFont typeface="Noto Sans Symbols"/>
              <a:buChar char="▪"/>
            </a:pPr>
            <a:r>
              <a:rPr b="1" lang="en-US" sz="2000">
                <a:solidFill>
                  <a:schemeClr val="dk1"/>
                </a:solidFill>
                <a:latin typeface="Cambria"/>
                <a:ea typeface="Cambria"/>
                <a:cs typeface="Cambria"/>
                <a:sym typeface="Cambria"/>
              </a:rPr>
              <a:t>Clea-Ro</a:t>
            </a:r>
            <a:r>
              <a:rPr lang="en-US" sz="2000">
                <a:solidFill>
                  <a:schemeClr val="dk1"/>
                </a:solidFill>
                <a:latin typeface="Cambria"/>
                <a:ea typeface="Cambria"/>
                <a:cs typeface="Cambria"/>
                <a:sym typeface="Cambria"/>
              </a:rPr>
              <a:t> combines all components into one framework, enabling smart, coordinated, and sustainable waste collection system</a:t>
            </a:r>
            <a:endParaRPr/>
          </a:p>
        </p:txBody>
      </p:sp>
      <p:pic>
        <p:nvPicPr>
          <p:cNvPr descr="A screenshot of a phone&#10;&#10;AI-generated content may be incorrect." id="203" name="Google Shape;203;p12"/>
          <p:cNvPicPr preferRelativeResize="0"/>
          <p:nvPr/>
        </p:nvPicPr>
        <p:blipFill rotWithShape="1">
          <a:blip r:embed="rId3">
            <a:alphaModFix/>
          </a:blip>
          <a:srcRect b="7064" l="0" r="0" t="9790"/>
          <a:stretch/>
        </p:blipFill>
        <p:spPr>
          <a:xfrm>
            <a:off x="8176550" y="1456582"/>
            <a:ext cx="2483852" cy="4589394"/>
          </a:xfrm>
          <a:prstGeom prst="rect">
            <a:avLst/>
          </a:prstGeom>
          <a:noFill/>
          <a:ln cap="flat" cmpd="sng" w="9525">
            <a:solidFill>
              <a:schemeClr val="dk1"/>
            </a:solidFill>
            <a:prstDash val="solid"/>
            <a:round/>
            <a:headEnd len="sm" w="sm" type="none"/>
            <a:tailEnd len="sm" w="sm" type="none"/>
          </a:ln>
        </p:spPr>
      </p:pic>
      <p:pic>
        <p:nvPicPr>
          <p:cNvPr descr="A screenshot of a mobile application&#10;&#10;AI-generated content may be incorrect." id="204" name="Google Shape;204;p12"/>
          <p:cNvPicPr preferRelativeResize="0"/>
          <p:nvPr/>
        </p:nvPicPr>
        <p:blipFill rotWithShape="1">
          <a:blip r:embed="rId4">
            <a:alphaModFix/>
          </a:blip>
          <a:srcRect b="16101" l="0" r="0" t="2879"/>
          <a:stretch/>
        </p:blipFill>
        <p:spPr>
          <a:xfrm>
            <a:off x="10136790" y="3016251"/>
            <a:ext cx="1864710" cy="335724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Results &amp; Discussion </a:t>
            </a:r>
            <a:endParaRPr/>
          </a:p>
        </p:txBody>
      </p:sp>
      <p:sp>
        <p:nvSpPr>
          <p:cNvPr id="211" name="Google Shape;21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12" name="Google Shape;21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13" name="Google Shape;21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4" name="Google Shape;214;p13"/>
          <p:cNvSpPr txBox="1"/>
          <p:nvPr/>
        </p:nvSpPr>
        <p:spPr>
          <a:xfrm>
            <a:off x="838201" y="1690688"/>
            <a:ext cx="5877559" cy="4637167"/>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Community Sharing – Key Innovation</a:t>
            </a:r>
            <a:endParaRPr/>
          </a:p>
          <a:p>
            <a:pPr indent="-342900" lvl="0" marL="342900" marR="0" rtl="0" algn="just">
              <a:spcBef>
                <a:spcPts val="1600"/>
              </a:spcBef>
              <a:spcAft>
                <a:spcPts val="0"/>
              </a:spcAft>
              <a:buClr>
                <a:schemeClr val="dk1"/>
              </a:buClr>
              <a:buSzPts val="2200"/>
              <a:buFont typeface="Noto Sans Symbols"/>
              <a:buChar char="▪"/>
            </a:pPr>
            <a:r>
              <a:rPr lang="en-US" sz="2200">
                <a:solidFill>
                  <a:schemeClr val="dk1"/>
                </a:solidFill>
                <a:latin typeface="Cambria"/>
                <a:ea typeface="Cambria"/>
                <a:cs typeface="Cambria"/>
                <a:sym typeface="Cambria"/>
              </a:rPr>
              <a:t>Enabled neighbors to claim reusable items (e.g., Home Goods, electronics, clothes) before disposal (Share Hub)</a:t>
            </a:r>
            <a:endParaRPr/>
          </a:p>
          <a:p>
            <a:pPr indent="-342900" lvl="0" marL="342900" marR="0" rtl="0" algn="just">
              <a:spcBef>
                <a:spcPts val="1600"/>
              </a:spcBef>
              <a:spcAft>
                <a:spcPts val="0"/>
              </a:spcAft>
              <a:buClr>
                <a:schemeClr val="dk1"/>
              </a:buClr>
              <a:buSzPts val="2200"/>
              <a:buFont typeface="Noto Sans Symbols"/>
              <a:buChar char="▪"/>
            </a:pPr>
            <a:r>
              <a:rPr lang="en-US" sz="2200">
                <a:solidFill>
                  <a:schemeClr val="dk1"/>
                </a:solidFill>
                <a:latin typeface="Cambria"/>
                <a:ea typeface="Cambria"/>
                <a:cs typeface="Cambria"/>
                <a:sym typeface="Cambria"/>
              </a:rPr>
              <a:t>Supports chat, cart management, checkout, and reviews to facilitate smooth transactions</a:t>
            </a:r>
            <a:endParaRPr/>
          </a:p>
          <a:p>
            <a:pPr indent="-342900" lvl="0" marL="342900" marR="0" rtl="0" algn="just">
              <a:spcBef>
                <a:spcPts val="1600"/>
              </a:spcBef>
              <a:spcAft>
                <a:spcPts val="0"/>
              </a:spcAft>
              <a:buClr>
                <a:schemeClr val="dk1"/>
              </a:buClr>
              <a:buSzPts val="2200"/>
              <a:buFont typeface="Noto Sans Symbols"/>
              <a:buChar char="▪"/>
            </a:pPr>
            <a:r>
              <a:rPr lang="en-US" sz="2200">
                <a:solidFill>
                  <a:schemeClr val="dk1"/>
                </a:solidFill>
                <a:latin typeface="Cambria"/>
                <a:ea typeface="Cambria"/>
                <a:cs typeface="Cambria"/>
                <a:sym typeface="Cambria"/>
              </a:rPr>
              <a:t>Includes a Creative Works section for selling products made from reusable materials (Craft Hub)</a:t>
            </a:r>
            <a:endParaRPr/>
          </a:p>
          <a:p>
            <a:pPr indent="-342900" lvl="0" marL="342900" marR="0" rtl="0" algn="just">
              <a:spcBef>
                <a:spcPts val="1600"/>
              </a:spcBef>
              <a:spcAft>
                <a:spcPts val="0"/>
              </a:spcAft>
              <a:buClr>
                <a:schemeClr val="dk1"/>
              </a:buClr>
              <a:buSzPts val="2200"/>
              <a:buFont typeface="Noto Sans Symbols"/>
              <a:buChar char="▪"/>
            </a:pPr>
            <a:r>
              <a:rPr lang="en-US" sz="2200">
                <a:solidFill>
                  <a:schemeClr val="dk1"/>
                </a:solidFill>
                <a:latin typeface="Cambria"/>
                <a:ea typeface="Cambria"/>
                <a:cs typeface="Cambria"/>
                <a:sym typeface="Cambria"/>
              </a:rPr>
              <a:t>Promotes sustainability, creativity, and active community engagement</a:t>
            </a:r>
            <a:endParaRPr/>
          </a:p>
        </p:txBody>
      </p:sp>
      <p:pic>
        <p:nvPicPr>
          <p:cNvPr descr="A screenshot of a phone&#10;&#10;AI-generated content may be incorrect." id="215" name="Google Shape;215;p13"/>
          <p:cNvPicPr preferRelativeResize="0"/>
          <p:nvPr/>
        </p:nvPicPr>
        <p:blipFill rotWithShape="1">
          <a:blip r:embed="rId3">
            <a:alphaModFix/>
          </a:blip>
          <a:srcRect b="6715" l="0" r="0" t="17655"/>
          <a:stretch/>
        </p:blipFill>
        <p:spPr>
          <a:xfrm>
            <a:off x="9451448" y="1614508"/>
            <a:ext cx="2557671" cy="4644051"/>
          </a:xfrm>
          <a:prstGeom prst="rect">
            <a:avLst/>
          </a:prstGeom>
          <a:noFill/>
          <a:ln cap="flat" cmpd="sng" w="9525">
            <a:solidFill>
              <a:schemeClr val="dk1"/>
            </a:solidFill>
            <a:prstDash val="solid"/>
            <a:round/>
            <a:headEnd len="sm" w="sm" type="none"/>
            <a:tailEnd len="sm" w="sm" type="none"/>
          </a:ln>
        </p:spPr>
      </p:pic>
      <p:pic>
        <p:nvPicPr>
          <p:cNvPr descr="A screenshot of a phone&#10;&#10;AI-generated content may be incorrect." id="216" name="Google Shape;216;p13"/>
          <p:cNvPicPr preferRelativeResize="0"/>
          <p:nvPr/>
        </p:nvPicPr>
        <p:blipFill rotWithShape="1">
          <a:blip r:embed="rId4">
            <a:alphaModFix/>
          </a:blip>
          <a:srcRect b="5323" l="0" r="0" t="4148"/>
          <a:stretch/>
        </p:blipFill>
        <p:spPr>
          <a:xfrm>
            <a:off x="6818325" y="904240"/>
            <a:ext cx="2530558" cy="535431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Conclusion</a:t>
            </a:r>
            <a:endParaRPr/>
          </a:p>
        </p:txBody>
      </p:sp>
      <p:sp>
        <p:nvSpPr>
          <p:cNvPr id="223" name="Google Shape;22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24" name="Google Shape;22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25" name="Google Shape;22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6" name="Google Shape;226;p14"/>
          <p:cNvSpPr txBox="1"/>
          <p:nvPr/>
        </p:nvSpPr>
        <p:spPr>
          <a:xfrm>
            <a:off x="838200" y="1690688"/>
            <a:ext cx="10806000" cy="3960900"/>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200"/>
              <a:buFont typeface="Noto Sans Symbols"/>
              <a:buChar char="▪"/>
            </a:pPr>
            <a:r>
              <a:rPr lang="en-US" sz="2200">
                <a:solidFill>
                  <a:schemeClr val="dk1"/>
                </a:solidFill>
                <a:latin typeface="Cambria"/>
                <a:ea typeface="Cambria"/>
                <a:cs typeface="Cambria"/>
                <a:sym typeface="Cambria"/>
              </a:rPr>
              <a:t>A future-ready smart waste collection model was developed, integrating IoT, real-time monitoring, and community participation</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The system demonstrated:</a:t>
            </a:r>
            <a:r>
              <a:rPr lang="en-US" sz="2200">
                <a:solidFill>
                  <a:schemeClr val="dk1"/>
                </a:solidFill>
                <a:latin typeface="Cambria"/>
                <a:ea typeface="Cambria"/>
                <a:cs typeface="Cambria"/>
                <a:sym typeface="Cambria"/>
              </a:rPr>
              <a:t> Improved operational efficiency, Reduced environmental impact, Enhanced citizen engagement</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Unique Contribution: </a:t>
            </a:r>
            <a:r>
              <a:rPr lang="en-US" sz="2200">
                <a:solidFill>
                  <a:schemeClr val="dk1"/>
                </a:solidFill>
                <a:latin typeface="Cambria"/>
                <a:ea typeface="Cambria"/>
                <a:cs typeface="Cambria"/>
                <a:sym typeface="Cambria"/>
              </a:rPr>
              <a:t>Introduced reuse at the source through a community sharing feature, addressing a gap in existing solutions</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Challenges Identified:</a:t>
            </a:r>
            <a:r>
              <a:rPr lang="en-US" sz="2200">
                <a:solidFill>
                  <a:schemeClr val="dk1"/>
                </a:solidFill>
                <a:latin typeface="Cambria"/>
                <a:ea typeface="Cambria"/>
                <a:cs typeface="Cambria"/>
                <a:sym typeface="Cambria"/>
              </a:rPr>
              <a:t> High setup costs, data security concerns, and scalability issues</a:t>
            </a:r>
            <a:endParaRPr/>
          </a:p>
          <a:p>
            <a:pPr indent="-342900" lvl="0" marL="342900" marR="0" rtl="0" algn="just">
              <a:spcBef>
                <a:spcPts val="1600"/>
              </a:spcBef>
              <a:spcAft>
                <a:spcPts val="0"/>
              </a:spcAft>
              <a:buClr>
                <a:schemeClr val="dk1"/>
              </a:buClr>
              <a:buSzPts val="2200"/>
              <a:buFont typeface="Noto Sans Symbols"/>
              <a:buChar char="▪"/>
            </a:pPr>
            <a:r>
              <a:rPr b="1" lang="en-US" sz="2200">
                <a:solidFill>
                  <a:schemeClr val="dk1"/>
                </a:solidFill>
                <a:latin typeface="Cambria"/>
                <a:ea typeface="Cambria"/>
                <a:cs typeface="Cambria"/>
                <a:sym typeface="Cambria"/>
              </a:rPr>
              <a:t>Future Work: </a:t>
            </a:r>
            <a:r>
              <a:rPr lang="en-US" sz="2200">
                <a:solidFill>
                  <a:schemeClr val="dk1"/>
                </a:solidFill>
                <a:latin typeface="Cambria"/>
                <a:ea typeface="Cambria"/>
                <a:cs typeface="Cambria"/>
                <a:sym typeface="Cambria"/>
              </a:rPr>
              <a:t>Develop predictive models for demand forecasting, Expand community engagement strategies, Strengthen data privacy and security mechanisms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References </a:t>
            </a:r>
            <a:endParaRPr/>
          </a:p>
        </p:txBody>
      </p:sp>
      <p:sp>
        <p:nvSpPr>
          <p:cNvPr id="233" name="Google Shape;2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34" name="Google Shape;2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35" name="Google Shape;2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6" name="Google Shape;236;p15"/>
          <p:cNvSpPr txBox="1"/>
          <p:nvPr/>
        </p:nvSpPr>
        <p:spPr>
          <a:xfrm>
            <a:off x="838200" y="1690688"/>
            <a:ext cx="10805932" cy="4196020"/>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Ablaza-Cruz, M., 2020. Designing a Mobile Application Framework as an Innovative IT Solution for Waste Recycling. IOP Conf. Ser. Mater. Sci. Eng., 803, 012046. https://doi.org/10.1088/1757-899X/803/1/012046</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Alduais, N., Lim, E., 2024. An IoT and Web-Based System for Efficient Waste Collection and Monitoring. Appl. Inf. Technol. Comput. Sci., 5, 291–310. https://doi.org/10.30880/aitcs.2024.05.02.016</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Arsita, T., Lapatta, N., Joefri, Y., Angreni, D., Pratama, S., 2025. Optimization of Urban Waste Collection Routes Using the Held-Karp Algorithm. J. Appl. Inform. Comput., 9, 202–210. https://doi.org/10.30871/jaic.v9i1.8832</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Bandara, M., Udayangi, T.G.I., 2023. Bin-Eazy: Tracking-Based Solid Waste Collection System.</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Chen, D.M.-C., Bodirsky, B.L., Krueger, T., Mishra, A., Popp, A., 2020. The World’s Growing Municipal Solid Waste: Trends and Impacts. Environ. Res. Lett., 15, 074021. https://doi.org/10.1088/1748-9326/ab8659</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Fernando, A., Kathriarachchi, R., 2019. IoT Based Smart Solution for Waste Collection and Recycling.</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Fidje, E., Haddara, M., Langseth, M., 2023. Sustainable Smart Waste Management Adoption Challenges in Developing Countries. Procedia Comput. Sci., 219, 905–914. https://doi.org/10.1016/j.procs.2023.01.366</a:t>
            </a:r>
            <a:endParaRPr/>
          </a:p>
          <a:p>
            <a:pPr indent="-342900" lvl="0" marL="342900" marR="0" rtl="0" algn="just">
              <a:spcBef>
                <a:spcPts val="8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Henrys, K., 2021. Mobile Application Model for Solid Waste Collection-Management. </a:t>
            </a:r>
            <a:r>
              <a:rPr lang="en-US" sz="1400" u="sng">
                <a:solidFill>
                  <a:schemeClr val="dk1"/>
                </a:solidFill>
                <a:latin typeface="Cambria"/>
                <a:ea typeface="Cambria"/>
                <a:cs typeface="Cambria"/>
                <a:sym typeface="Cambria"/>
                <a:hlinkClick r:id="rId3">
                  <a:extLst>
                    <a:ext uri="{A12FA001-AC4F-418D-AE19-62706E023703}">
                      <ahyp:hlinkClr val="tx"/>
                    </a:ext>
                  </a:extLst>
                </a:hlinkClick>
              </a:rPr>
              <a:t>https://doi.org/10.2139/ssrn.3808542</a:t>
            </a:r>
            <a:endParaRPr sz="1400">
              <a:solidFill>
                <a:schemeClr val="dk1"/>
              </a:solidFill>
              <a:latin typeface="Cambria"/>
              <a:ea typeface="Cambria"/>
              <a:cs typeface="Cambria"/>
              <a:sym typeface="Cambria"/>
            </a:endParaRPr>
          </a:p>
          <a:p>
            <a:pPr indent="-342900" lvl="0" marL="342900" marR="0" rtl="0" algn="just">
              <a:spcBef>
                <a:spcPts val="1200"/>
              </a:spcBef>
              <a:spcAft>
                <a:spcPts val="0"/>
              </a:spcAft>
              <a:buClr>
                <a:schemeClr val="dk1"/>
              </a:buClr>
              <a:buSzPts val="1400"/>
              <a:buFont typeface="Calibri"/>
              <a:buAutoNum type="arabicParenR"/>
            </a:pPr>
            <a:r>
              <a:rPr lang="en-US" sz="1400">
                <a:solidFill>
                  <a:schemeClr val="dk1"/>
                </a:solidFill>
                <a:latin typeface="Cambria"/>
                <a:ea typeface="Cambria"/>
                <a:cs typeface="Cambria"/>
                <a:sym typeface="Cambria"/>
              </a:rPr>
              <a:t>Indrawan, K.W., Kristiawan, S., Zoe, T.M., Tania, S., Song, F.I., Saputra, J.N., Alam, I.N., Andryani, N.A.C., 2023. Digital Marketplace Design &amp; Development for Creative Recycle Products. IEEE ITIS 2023, 1–6. https://doi.org/10.1109/ITIS59651.2023.10419958</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References Cont. </a:t>
            </a:r>
            <a:endParaRPr/>
          </a:p>
        </p:txBody>
      </p:sp>
      <p:sp>
        <p:nvSpPr>
          <p:cNvPr id="243" name="Google Shape;24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44" name="Google Shape;24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45" name="Google Shape;24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6" name="Google Shape;246;p16"/>
          <p:cNvSpPr txBox="1"/>
          <p:nvPr/>
        </p:nvSpPr>
        <p:spPr>
          <a:xfrm>
            <a:off x="838200" y="1690688"/>
            <a:ext cx="10805932" cy="4360168"/>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Leelarathne, K., Niroshan, R.T., Kalansooriya, L.P., 2021. Optimum Waste Collection System with Smart Mobile Application.</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Marković, D., Nikolić, L., Stankovic, A., Markovic, S., 2023. Hybrid Waste Collection System.</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Neto, A., Simões, C., Simoes, R., 2024. Optimization of Municipal Solid Waste Collection System: Systematic Review with Bibliometric Analysis. J. Mater. Cycles Waste Manag., 26. https://doi.org/10.1007/s10163-024-01966-y</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Ogawa, A., Pandyaswargo, A., Tsubouchi, R., Onoda, H., 2023. Demonstration of a Contactless Waste Collection System: A Japanese Case Study. IET Smart Cities, 5. https://doi.org/10.1049/smc2.12065</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Singh, D., Dikshit, A.K., Kumar, S., 2024. Smart Technological Options in Collection and Transportation of Municipal Solid Waste: A Mini Review. Waste Manag. Res., 42, 3–15. https://doi.org/10.1177/0734242X231175816</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Sosunova, I., Porras, J., 2022. IoT-Enabled Smart Waste Management Systems for Smart Cities: A Systematic Review. IEEE Access, 10, 73326–73363. https://doi.org/10.1109/ACCESS.2022.3188308</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Wijendra, D., De Silva, D.I., Gunawardhena, N.M., Wijayarathna, S.M., Aluthwaththage, J.H., 2022. A Mobile Based Garbage Collection System. IISEC 2022, 1–6. https://doi.org/10.1109/IISEC56263.2022.9998268</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Zeb, A., Ali, Q., Saleem, M.Q., Awan, K.M., Alowayr, A.S., Uddin, J., Iqbal, S., Bashir, F., 2019. IoT-Enabled Smart Waste Bin Management System and Efficient Route Selection. J. Comput. Netw. Commun., 2019, 7043674. https://doi.org/10.1155/2019/7043674</a:t>
            </a:r>
            <a:endParaRPr/>
          </a:p>
          <a:p>
            <a:pPr indent="-342900" lvl="0" marL="342900" marR="0" rtl="0" algn="just">
              <a:spcBef>
                <a:spcPts val="800"/>
              </a:spcBef>
              <a:spcAft>
                <a:spcPts val="0"/>
              </a:spcAft>
              <a:buClr>
                <a:schemeClr val="dk1"/>
              </a:buClr>
              <a:buSzPts val="1400"/>
              <a:buFont typeface="Calibri"/>
              <a:buAutoNum type="arabicParenR" startAt="10"/>
            </a:pPr>
            <a:r>
              <a:rPr lang="en-US" sz="1400">
                <a:solidFill>
                  <a:schemeClr val="dk1"/>
                </a:solidFill>
                <a:latin typeface="Cambria"/>
                <a:ea typeface="Cambria"/>
                <a:cs typeface="Cambria"/>
                <a:sym typeface="Cambria"/>
              </a:rPr>
              <a:t>Zhou, J., Jiang, P., Yang, J., Liu, X., 2021. Designing a Smart Incentive-Based Recycling System for Household Recyclable Waste. Waste Manag., 123, 142–153. https://doi.org/10.1016/j.wasman.2021.01.030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Acknowledgement</a:t>
            </a:r>
            <a:endParaRPr/>
          </a:p>
        </p:txBody>
      </p:sp>
      <p:sp>
        <p:nvSpPr>
          <p:cNvPr id="253" name="Google Shape;25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54" name="Google Shape;25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55" name="Google Shape;25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6" name="Google Shape;256;p17"/>
          <p:cNvSpPr txBox="1"/>
          <p:nvPr/>
        </p:nvSpPr>
        <p:spPr>
          <a:xfrm>
            <a:off x="838200" y="1690688"/>
            <a:ext cx="10806000" cy="3006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Cambria"/>
                <a:ea typeface="Cambria"/>
                <a:cs typeface="Cambria"/>
                <a:sym typeface="Cambria"/>
              </a:rPr>
              <a:t>I would like to express my sincere gratitude to all the individuals and organizations who contributed to the success of this research. I am especially thankful to my supervisor </a:t>
            </a:r>
            <a:r>
              <a:rPr lang="en-US" sz="2000">
                <a:solidFill>
                  <a:schemeClr val="dk1"/>
                </a:solidFill>
                <a:latin typeface="Cambria"/>
                <a:ea typeface="Cambria"/>
                <a:cs typeface="Cambria"/>
                <a:sym typeface="Cambria"/>
              </a:rPr>
              <a:t>Mr. R.P.S. Kathriarachchi,</a:t>
            </a:r>
            <a:r>
              <a:rPr lang="en-US" sz="2200">
                <a:solidFill>
                  <a:schemeClr val="dk1"/>
                </a:solidFill>
                <a:latin typeface="Cambria"/>
                <a:ea typeface="Cambria"/>
                <a:cs typeface="Cambria"/>
                <a:sym typeface="Cambria"/>
              </a:rPr>
              <a:t> for their continuous guidance and encouragement. Special thanks to the staff of the Dehiwala - Mount Lavinia Municipal Council and all survey and interview participants for their valuable input. I also appreciate the support of my colleagues and friends for their helpful discussions and encouragement. Finally, I am deeply grateful to my family for their unwavering support and motivation throughout this journey</a:t>
            </a:r>
            <a:endParaRPr sz="2200">
              <a:solidFill>
                <a:schemeClr val="dk1"/>
              </a:solidFill>
              <a:latin typeface="Cambria"/>
              <a:ea typeface="Cambria"/>
              <a:cs typeface="Cambria"/>
              <a:sym typeface="Cambria"/>
            </a:endParaRPr>
          </a:p>
          <a:p>
            <a:pPr indent="0" lvl="0" marL="0" marR="0" rtl="0" algn="just">
              <a:spcBef>
                <a:spcPts val="1600"/>
              </a:spcBef>
              <a:spcAft>
                <a:spcPts val="0"/>
              </a:spcAft>
              <a:buNone/>
            </a:pPr>
            <a:r>
              <a:t/>
            </a:r>
            <a:endParaRPr sz="2200">
              <a:solidFill>
                <a:schemeClr val="dk1"/>
              </a:solidFill>
              <a:latin typeface="Cambria"/>
              <a:ea typeface="Cambria"/>
              <a:cs typeface="Cambria"/>
              <a:sym typeface="Cambria"/>
            </a:endParaRPr>
          </a:p>
        </p:txBody>
      </p:sp>
      <p:sp>
        <p:nvSpPr>
          <p:cNvPr id="257" name="Google Shape;257;p17"/>
          <p:cNvSpPr txBox="1"/>
          <p:nvPr/>
        </p:nvSpPr>
        <p:spPr>
          <a:xfrm>
            <a:off x="4386805" y="4649332"/>
            <a:ext cx="319465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rgbClr val="2E75B5"/>
                </a:solidFill>
                <a:latin typeface="Cambria"/>
                <a:ea typeface="Cambria"/>
                <a:cs typeface="Cambria"/>
                <a:sym typeface="Cambria"/>
                <a:hlinkClick r:id="rId3">
                  <a:extLst>
                    <a:ext uri="{A12FA001-AC4F-418D-AE19-62706E023703}">
                      <ahyp:hlinkClr val="tx"/>
                    </a:ext>
                  </a:extLst>
                </a:hlinkClick>
              </a:rPr>
              <a:t>39-bit-0039@kdu.ac.lk</a:t>
            </a:r>
            <a:endParaRPr sz="2400">
              <a:solidFill>
                <a:srgbClr val="2E75B5"/>
              </a:solidFill>
              <a:latin typeface="Cambria"/>
              <a:ea typeface="Cambria"/>
              <a:cs typeface="Cambria"/>
              <a:sym typeface="Cambria"/>
            </a:endParaRPr>
          </a:p>
        </p:txBody>
      </p:sp>
      <p:sp>
        <p:nvSpPr>
          <p:cNvPr id="258" name="Google Shape;258;p17"/>
          <p:cNvSpPr txBox="1"/>
          <p:nvPr/>
        </p:nvSpPr>
        <p:spPr>
          <a:xfrm>
            <a:off x="838200" y="4649332"/>
            <a:ext cx="35486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R.A. Kebuni Ranasinghe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01/10/2025</a:t>
            </a:r>
            <a:endParaRPr/>
          </a:p>
        </p:txBody>
      </p:sp>
      <p:sp>
        <p:nvSpPr>
          <p:cNvPr id="265" name="Google Shape;26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66" name="Google Shape;26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7" name="Google Shape;267;p18"/>
          <p:cNvSpPr txBox="1"/>
          <p:nvPr>
            <p:ph type="title"/>
          </p:nvPr>
        </p:nvSpPr>
        <p:spPr>
          <a:xfrm>
            <a:off x="3102014" y="2835618"/>
            <a:ext cx="5987972" cy="118676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Cambria"/>
              <a:buNone/>
            </a:pPr>
            <a:r>
              <a:rPr b="1" lang="en-US" sz="7200">
                <a:latin typeface="Cambria"/>
                <a:ea typeface="Cambria"/>
                <a:cs typeface="Cambria"/>
                <a:sym typeface="Cambria"/>
              </a:rPr>
              <a:t>THANK  YOU !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2024-08-13T12:12:08Z</dcterms:created>
  <dc:creator>Dharani Abeysinghe</dc:creator>
</cp:coreProperties>
</file>