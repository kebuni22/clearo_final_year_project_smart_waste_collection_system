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66" r:id="rId4"/>
    <p:sldId id="279" r:id="rId5"/>
    <p:sldId id="281" r:id="rId6"/>
    <p:sldId id="267" r:id="rId7"/>
    <p:sldId id="280" r:id="rId8"/>
    <p:sldId id="269" r:id="rId9"/>
    <p:sldId id="270" r:id="rId10"/>
    <p:sldId id="271" r:id="rId11"/>
    <p:sldId id="275" r:id="rId12"/>
    <p:sldId id="277" r:id="rId13"/>
    <p:sldId id="274" r:id="rId14"/>
    <p:sldId id="273" r:id="rId15"/>
    <p:sldId id="260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buni Ranasinghe" userId="407c0283f34bab45" providerId="LiveId" clId="{DB6CA06E-7FBB-439E-B6D8-8EF5031A5525}"/>
    <pc:docChg chg="undo custSel modSld sldOrd">
      <pc:chgData name="Kebuni Ranasinghe" userId="407c0283f34bab45" providerId="LiveId" clId="{DB6CA06E-7FBB-439E-B6D8-8EF5031A5525}" dt="2025-02-03T18:23:43.951" v="15" actId="14100"/>
      <pc:docMkLst>
        <pc:docMk/>
      </pc:docMkLst>
      <pc:sldChg chg="modSp mod">
        <pc:chgData name="Kebuni Ranasinghe" userId="407c0283f34bab45" providerId="LiveId" clId="{DB6CA06E-7FBB-439E-B6D8-8EF5031A5525}" dt="2025-02-03T18:23:43.951" v="15" actId="14100"/>
        <pc:sldMkLst>
          <pc:docMk/>
          <pc:sldMk cId="2181828396" sldId="260"/>
        </pc:sldMkLst>
        <pc:spChg chg="mod">
          <ac:chgData name="Kebuni Ranasinghe" userId="407c0283f34bab45" providerId="LiveId" clId="{DB6CA06E-7FBB-439E-B6D8-8EF5031A5525}" dt="2025-02-03T18:23:43.951" v="15" actId="14100"/>
          <ac:spMkLst>
            <pc:docMk/>
            <pc:sldMk cId="2181828396" sldId="260"/>
            <ac:spMk id="7" creationId="{E0E3BCA5-290B-F0ED-8860-BF646E081CB2}"/>
          </ac:spMkLst>
        </pc:spChg>
      </pc:sldChg>
      <pc:sldChg chg="modSp mod">
        <pc:chgData name="Kebuni Ranasinghe" userId="407c0283f34bab45" providerId="LiveId" clId="{DB6CA06E-7FBB-439E-B6D8-8EF5031A5525}" dt="2025-02-03T18:17:21.153" v="0" actId="14100"/>
        <pc:sldMkLst>
          <pc:docMk/>
          <pc:sldMk cId="3601650709" sldId="266"/>
        </pc:sldMkLst>
        <pc:spChg chg="mod">
          <ac:chgData name="Kebuni Ranasinghe" userId="407c0283f34bab45" providerId="LiveId" clId="{DB6CA06E-7FBB-439E-B6D8-8EF5031A5525}" dt="2025-02-03T18:17:21.153" v="0" actId="14100"/>
          <ac:spMkLst>
            <pc:docMk/>
            <pc:sldMk cId="3601650709" sldId="266"/>
            <ac:spMk id="10" creationId="{DC073C67-AEB6-9585-B56D-2F4E1FEB6393}"/>
          </ac:spMkLst>
        </pc:spChg>
      </pc:sldChg>
      <pc:sldChg chg="modSp mod ord">
        <pc:chgData name="Kebuni Ranasinghe" userId="407c0283f34bab45" providerId="LiveId" clId="{DB6CA06E-7FBB-439E-B6D8-8EF5031A5525}" dt="2025-02-03T18:21:36.870" v="12" actId="20578"/>
        <pc:sldMkLst>
          <pc:docMk/>
          <pc:sldMk cId="2653359519" sldId="268"/>
        </pc:sldMkLst>
        <pc:spChg chg="mod">
          <ac:chgData name="Kebuni Ranasinghe" userId="407c0283f34bab45" providerId="LiveId" clId="{DB6CA06E-7FBB-439E-B6D8-8EF5031A5525}" dt="2025-02-03T18:21:33.733" v="11" actId="21"/>
          <ac:spMkLst>
            <pc:docMk/>
            <pc:sldMk cId="2653359519" sldId="268"/>
            <ac:spMk id="2" creationId="{00F3C360-F407-4E6F-E7C7-09C4FB8B05D5}"/>
          </ac:spMkLst>
        </pc:spChg>
        <pc:spChg chg="mod">
          <ac:chgData name="Kebuni Ranasinghe" userId="407c0283f34bab45" providerId="LiveId" clId="{DB6CA06E-7FBB-439E-B6D8-8EF5031A5525}" dt="2025-02-03T18:17:34.739" v="1" actId="20577"/>
          <ac:spMkLst>
            <pc:docMk/>
            <pc:sldMk cId="2653359519" sldId="268"/>
            <ac:spMk id="14" creationId="{EF027E70-3E67-E7D5-C833-C28B4FF8C73A}"/>
          </ac:spMkLst>
        </pc:spChg>
      </pc:sldChg>
      <pc:sldChg chg="modSp mod">
        <pc:chgData name="Kebuni Ranasinghe" userId="407c0283f34bab45" providerId="LiveId" clId="{DB6CA06E-7FBB-439E-B6D8-8EF5031A5525}" dt="2025-02-03T18:21:32.933" v="10" actId="20577"/>
        <pc:sldMkLst>
          <pc:docMk/>
          <pc:sldMk cId="798640091" sldId="269"/>
        </pc:sldMkLst>
        <pc:spChg chg="mod">
          <ac:chgData name="Kebuni Ranasinghe" userId="407c0283f34bab45" providerId="LiveId" clId="{DB6CA06E-7FBB-439E-B6D8-8EF5031A5525}" dt="2025-02-03T18:21:32.933" v="10" actId="20577"/>
          <ac:spMkLst>
            <pc:docMk/>
            <pc:sldMk cId="798640091" sldId="269"/>
            <ac:spMk id="18" creationId="{9B54B298-1320-B687-7609-4FFDF0F7C2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E2B22-7CF8-4D6B-92BA-D9F94B522467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D413-11ED-4528-BEC7-B6D91B14A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8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A777-6A8E-3047-1FF3-B05093ED0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2FB70-2BC6-5DB8-55E9-542C62CD8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F3717-73BB-8002-C7C0-48FAC643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59CF-7828-4065-8215-FD4AA8DFFB2A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5E1D-0D1E-DCD5-AA7E-BF159A7F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A240-F3ED-5CB4-0754-2F683872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5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7CC3-FCDA-CBBF-FD06-1FE71A36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6E363-9005-E648-5684-DC1B2138D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D781-FD00-7765-EEE1-03D9203D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57C7-162E-4ACC-AE69-9371DAB07017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5F34-212C-1B2A-3942-DCD7BEFA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F742-E0F3-1607-AA93-DA90A373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8696-A03A-B27B-CFBB-1F386222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AA8F6-3A1B-B7D6-934B-24EEB42CD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9E3C-A7A9-D5D9-5F91-593CDE28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165B6-DBED-40B5-BBEB-6135B3960D08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D5649-D045-0253-FCF8-39D8F834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748B8-E8C1-D8ED-58EE-63084C4D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824E-165D-7655-98EF-BC0E5D7D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FE2FE-DBF5-1CDA-62D6-0800DF1C6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DE63A-1A02-81ED-717E-F78D1479A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7C63-267B-E6A2-E745-3A2EB24D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7FAE-989C-4B9A-9B44-B154A5E9E138}" type="datetime1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38C15-AC06-A8D7-DE6F-90FC8974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253E4-BCE2-55F6-0098-089CB22E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2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4D67-1898-1C85-AB83-E62AF2EB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786CE-F15E-948D-02BA-7396B899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FD10-0EC2-6C27-4F0F-8D3345DA7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39023-E3C2-5F2F-15EC-3660FF385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458C6-6FDD-60F7-0E85-9D518BE0A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62BE7-315B-4B5B-B2DC-D0F06988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9128-B251-4A79-930A-86F11CB91790}" type="datetime1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33EE2-9486-5C27-34BB-60B6CE8F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7B006-77B3-173D-8BAA-17173E57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8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86DC-7B5F-699B-CE74-F7A2046C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5B0EB-30B3-9A32-83A4-77755D1A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2228-5B36-4844-8F6A-199B98D660EA}" type="datetime1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7916C-995B-031C-4F45-01E64810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8C5C1-6579-5F4D-0677-DF8DADE3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4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0E04E-EF41-45EF-07B3-EA6D8CC0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A3C1A-745D-4222-833E-2F31C3FEC97E}" type="datetime1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1999B-2D3C-A6CB-BEDC-EAD51987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3CDFB-35D3-4E8D-3753-F773ED27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F4E1-A325-CB8B-81B8-D0F3EBA5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87CC-2C0B-0D75-D117-BFC5C2D5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C8C95-BB18-4EA7-04DD-0695886F1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33757-CAB5-E11A-D373-C1905707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C0B5-8608-480E-B5FC-E72E0140EF75}" type="datetime1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3E17C-0365-CBA0-8B9D-DA5D1358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7817B-D05C-CC0F-D1C9-AD4D2A36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3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3524-C9B4-89B7-39B7-16C2A46B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90D7C-43A0-10DE-16AE-42C146519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51FE7-9C0F-EF5F-0259-90BFFB4AB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C6C2D-B200-6D0C-D90D-967267E1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B7EC7-BD79-4ACA-AB0A-989E1E81A220}" type="datetime1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1980C-6FE7-A71D-441D-8688E13E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BBC85-41F1-F2BF-EA60-2FFDE579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1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EDD6-1462-CA9F-0B03-5A03A8C6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023E0-5B0E-25F0-AB10-3AF82A3DE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182E-7AD5-335F-53FC-3A1DD2DD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440F-C5B9-45C0-AE70-7996D66EFFFF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C543-5BAA-D4F5-2BF9-3172B976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62A11-788E-E439-7DF9-E13FBAC9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7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D2759-44F7-A67F-C4C1-C03F98FD4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771F3-4CD4-DA9D-C02A-0A378217C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83FB2-91F0-8B70-A0F5-A690BBD8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3D25-E3F8-4385-ADD2-E87F32A3ABD9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F18C-A71F-4983-6D70-4BC49A8D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CFC8B-E076-28CF-407A-709DFE1B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3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EA5C9-9C87-E173-59AA-E675825A2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64611-FA56-60A3-DFDF-D5AAD6ED5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CC479-5B7B-CE60-775D-87E9AEA08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C6041-4EF6-445C-A55D-B4B455EB04AC}" type="datetime1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1858A-242A-AAE9-56CA-C2BB029D5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5th Student Symposium  Faculty of Computing - KDU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ADF3D-EB70-1704-B2A6-C9B57B9CE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0E09-8DDD-4C1F-A508-856482ADE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D94C08A-D7CA-80A4-9BC4-510BFF16996C}"/>
              </a:ext>
            </a:extLst>
          </p:cNvPr>
          <p:cNvSpPr/>
          <p:nvPr/>
        </p:nvSpPr>
        <p:spPr>
          <a:xfrm>
            <a:off x="-957" y="2642008"/>
            <a:ext cx="12192000" cy="504341"/>
          </a:xfrm>
          <a:prstGeom prst="rect">
            <a:avLst/>
          </a:prstGeom>
          <a:solidFill>
            <a:srgbClr val="FFC00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9EDF5-8505-8775-DED5-4F00996D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683" y="-787400"/>
            <a:ext cx="12192000" cy="2387600"/>
          </a:xfrm>
        </p:spPr>
        <p:txBody>
          <a:bodyPr/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Student Symposium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1B9C7-8077-FA57-CE36-845ECA246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" y="2783495"/>
            <a:ext cx="12192000" cy="314816"/>
          </a:xfrm>
        </p:spPr>
        <p:txBody>
          <a:bodyPr>
            <a:noAutofit/>
          </a:bodyPr>
          <a:lstStyle/>
          <a:p>
            <a:r>
              <a:rPr lang="en-US" sz="2000" b="1" dirty="0"/>
              <a:t>EMPOWERING DIGITAL SOCIETY WITH COMPUTATIONAL INTELLIGENCE TOWARDS SUSTAINABILITY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8EDBD-2C56-2A6C-7ACF-BC22205489B3}"/>
              </a:ext>
            </a:extLst>
          </p:cNvPr>
          <p:cNvSpPr txBox="1"/>
          <p:nvPr/>
        </p:nvSpPr>
        <p:spPr>
          <a:xfrm>
            <a:off x="198258" y="5628632"/>
            <a:ext cx="5858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RAKK Ranasinghe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RPS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Kathriarachchi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&amp; GAD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Ganepola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A1932-F842-3B41-2E6A-5D2D410EFCE7}"/>
              </a:ext>
            </a:extLst>
          </p:cNvPr>
          <p:cNvSpPr txBox="1"/>
          <p:nvPr/>
        </p:nvSpPr>
        <p:spPr>
          <a:xfrm>
            <a:off x="107198" y="3258752"/>
            <a:ext cx="119756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 Comprehensive Review of Modern Technologies in Waste Collection: Driving Smarter and Greener Solutions for a Future-Ready Approach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Paper ID : 151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 descr="A poster with text and a cartoon character&#10;&#10;Description automatically generated">
            <a:extLst>
              <a:ext uri="{FF2B5EF4-FFF2-40B4-BE49-F238E27FC236}">
                <a16:creationId xmlns:a16="http://schemas.microsoft.com/office/drawing/2014/main" id="{6D42589D-36BF-5AED-5196-5DA367447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53"/>
          <a:stretch/>
        </p:blipFill>
        <p:spPr>
          <a:xfrm>
            <a:off x="0" y="-20888"/>
            <a:ext cx="12192000" cy="2665112"/>
          </a:xfrm>
          <a:prstGeom prst="rect">
            <a:avLst/>
          </a:prstGeom>
        </p:spPr>
      </p:pic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C5AED6E1-D4D0-17A5-44C1-CC93FC088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953" y="6069201"/>
            <a:ext cx="877107" cy="6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3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E18B-BFC7-90DA-791A-48D47336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497864"/>
            <a:ext cx="4828458" cy="891336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F3C9-2292-5A38-3B23-C18302441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137069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Aims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Findings and Discussion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08841-69E7-9E3E-822C-812A882E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F7A49-49C5-6E9B-BAA2-EFA29BE7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2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F43E587C-C3F7-DE67-3DDB-17803EC63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7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6424-3F90-1BB5-E590-B449332A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90B8B-2425-ADE7-1F68-41A2E8E7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C3FEB-9222-CC81-09DE-3EF7F7CB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648E1133-F9C6-2F94-994B-3CAE4E770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073C67-AEB6-9585-B56D-2F4E1FEB6393}"/>
              </a:ext>
            </a:extLst>
          </p:cNvPr>
          <p:cNvSpPr txBox="1"/>
          <p:nvPr/>
        </p:nvSpPr>
        <p:spPr>
          <a:xfrm>
            <a:off x="516194" y="1336119"/>
            <a:ext cx="1113732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Urbanization and population growth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increase waste collection challenges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Traditional waste collection methods are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inefficient and costly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Modern technologies (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IoT, AI, GIS, ML, Mobile &amp; Web Applications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offer smarter waste collection solutions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study reviews key advancements and their impact on sustainability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research highlights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role of technology in improving efficiency, reducing operational costs, and minimizing environmental impact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importance of integrating smart waste collection systems into urban infrastructure to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ensure long-term sustainability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4B649-D82D-B5EE-65F0-7D6D1C05DF82}"/>
              </a:ext>
            </a:extLst>
          </p:cNvPr>
          <p:cNvSpPr txBox="1"/>
          <p:nvPr/>
        </p:nvSpPr>
        <p:spPr>
          <a:xfrm>
            <a:off x="516194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0165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53BA-B501-EE9B-25D1-F4C3D7D2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209EB-C6E5-451A-9D29-5B2B6872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0C86D-EF0E-F0EE-C75E-4638C82B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4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82341DF5-056D-7B54-40D2-8BA95A8B5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DADF2B-9801-66F1-DEB9-A31C002F0CE8}"/>
              </a:ext>
            </a:extLst>
          </p:cNvPr>
          <p:cNvSpPr txBox="1"/>
          <p:nvPr/>
        </p:nvSpPr>
        <p:spPr>
          <a:xfrm>
            <a:off x="589935" y="497864"/>
            <a:ext cx="7364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Research Questions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20272-F011-0772-F1DE-7122D4084567}"/>
              </a:ext>
            </a:extLst>
          </p:cNvPr>
          <p:cNvSpPr txBox="1"/>
          <p:nvPr/>
        </p:nvSpPr>
        <p:spPr>
          <a:xfrm>
            <a:off x="589935" y="1598215"/>
            <a:ext cx="6704945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How can IoT, AI, and other modern technologies enhance the efficiency and sustainability of waste collection systems?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What are the primary benefits and challenges of implementing smart waste collection solutions?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How does the integration of mobile and web applications influence community engagement and overall waste management performance?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4" descr="GARBAGE COLLECTION | Photos | Philippine News Agency">
            <a:extLst>
              <a:ext uri="{FF2B5EF4-FFF2-40B4-BE49-F238E27FC236}">
                <a16:creationId xmlns:a16="http://schemas.microsoft.com/office/drawing/2014/main" id="{291E2780-8D1E-D13F-D218-7CD30772C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280" y="1731458"/>
            <a:ext cx="4473943" cy="372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41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F314-B43D-4D68-F910-1917578D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9F5A8-FFDF-8525-5772-C3A7DA12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1954C-6140-47F8-8C4E-B891C8B2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5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C63B516C-840C-DFAA-B4A7-7796BFA09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DE8C07-3577-2769-09AB-EE2A59D34968}"/>
              </a:ext>
            </a:extLst>
          </p:cNvPr>
          <p:cNvSpPr txBox="1"/>
          <p:nvPr/>
        </p:nvSpPr>
        <p:spPr>
          <a:xfrm>
            <a:off x="589935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Aims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FDA79-476C-CE1C-C193-09852E595220}"/>
              </a:ext>
            </a:extLst>
          </p:cNvPr>
          <p:cNvSpPr txBox="1"/>
          <p:nvPr/>
        </p:nvSpPr>
        <p:spPr>
          <a:xfrm>
            <a:off x="589935" y="1267305"/>
            <a:ext cx="11218607" cy="175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To explore how </a:t>
            </a:r>
            <a:r>
              <a:rPr lang="en-US" sz="24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modern technologies can enhance waste collection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, making it </a:t>
            </a:r>
            <a:r>
              <a:rPr lang="en-US" sz="24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more efficient, sustainable, and citizen-friendly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while supporting the goals of smart cities and </a:t>
            </a:r>
            <a:r>
              <a:rPr lang="en-US" sz="24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environmental sustainability.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This review provides a </a:t>
            </a:r>
            <a:r>
              <a:rPr lang="en-US" sz="24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future-focused analysis of waste </a:t>
            </a:r>
            <a:r>
              <a:rPr lang="en-US" sz="2400" b="1" kern="100" dirty="0"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collection</a:t>
            </a:r>
            <a:r>
              <a:rPr lang="en-US" sz="24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Iskoola Pota" panose="020B0502040204020203" pitchFamily="34" charset="0"/>
              </a:rPr>
              <a:t> through technological advancements.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7CCC9C3-E57C-649E-5F31-269BBC24B71C}"/>
              </a:ext>
            </a:extLst>
          </p:cNvPr>
          <p:cNvSpPr/>
          <p:nvPr/>
        </p:nvSpPr>
        <p:spPr>
          <a:xfrm>
            <a:off x="673239" y="3509438"/>
            <a:ext cx="2863499" cy="2380085"/>
          </a:xfrm>
          <a:custGeom>
            <a:avLst/>
            <a:gdLst/>
            <a:ahLst/>
            <a:cxnLst/>
            <a:rect l="l" t="t" r="r" b="b"/>
            <a:pathLst>
              <a:path w="6805249" h="5371751">
                <a:moveTo>
                  <a:pt x="0" y="0"/>
                </a:moveTo>
                <a:lnTo>
                  <a:pt x="6805249" y="0"/>
                </a:lnTo>
                <a:lnTo>
                  <a:pt x="6805249" y="5371751"/>
                </a:lnTo>
                <a:lnTo>
                  <a:pt x="0" y="537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51" name="Picture 3" descr="Smart Waste Management Royalty-Free Images, Stock Photos &amp; Pictures |  Shutterstock">
            <a:extLst>
              <a:ext uri="{FF2B5EF4-FFF2-40B4-BE49-F238E27FC236}">
                <a16:creationId xmlns:a16="http://schemas.microsoft.com/office/drawing/2014/main" id="{CE33524C-E94D-04B0-917E-61AB6499B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0430"/>
          <a:stretch/>
        </p:blipFill>
        <p:spPr bwMode="auto">
          <a:xfrm>
            <a:off x="3215473" y="3467812"/>
            <a:ext cx="5114611" cy="252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17,000+ Waste Management Stock Illustrations, Royalty-Free Vector Graphics  &amp; Clip Art - iStock | Waste management truck, Waste management icon, Solid  waste management">
            <a:extLst>
              <a:ext uri="{FF2B5EF4-FFF2-40B4-BE49-F238E27FC236}">
                <a16:creationId xmlns:a16="http://schemas.microsoft.com/office/drawing/2014/main" id="{AD63B59F-F5B3-9E22-75DD-E9FB97B56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9641" r="89706">
                        <a14:foregroundMark x1="9804" y1="80857" x2="9804" y2="80857"/>
                        <a14:foregroundMark x1="9641" y1="70286" x2="9641" y2="70286"/>
                        <a14:foregroundMark x1="89706" y1="84857" x2="89706" y2="84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279" y="3509439"/>
            <a:ext cx="4624058" cy="26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2235E-AFD6-6E2D-EA22-C266ED42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E7557-8194-7CB8-F297-6F5AEE5C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CE8CF-DC7B-1B9D-0522-889F4F6B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6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152F923F-1ECD-0064-9E41-485ADCCA8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285EF-46F4-FDAA-2CFA-A63E1FDF19A0}"/>
              </a:ext>
            </a:extLst>
          </p:cNvPr>
          <p:cNvSpPr txBox="1"/>
          <p:nvPr/>
        </p:nvSpPr>
        <p:spPr>
          <a:xfrm>
            <a:off x="589935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95F31-5750-BB04-66BC-7DC3971FF970}"/>
              </a:ext>
            </a:extLst>
          </p:cNvPr>
          <p:cNvSpPr txBox="1"/>
          <p:nvPr/>
        </p:nvSpPr>
        <p:spPr>
          <a:xfrm>
            <a:off x="589935" y="1267305"/>
            <a:ext cx="11041626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Analyze Traditional Methods: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Identify inefficiencies in conventional waste collection systems, including fixed schedules, high operational costs, and environmental concerns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Review Modern Technologies: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Study IoT-based smart bins, AI-driven route optimization, GIS for spatial analysis, and mobile applications for real-time user interaction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Assess User Engagement: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Explore how digital platforms, incentives, and mobile apps enhance citizen participation in waste collection efforts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 Future Solutions: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Integrate AI, IoT, GIS, and cloud computing to create a dynamic, data-driven waste collection system that improves efficiency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257895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38A6-5AD2-0246-18F1-A8C9C0F6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EE0B5-A68C-E5D8-B67B-84093975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BEE5B-4395-C7FA-DCDA-8B230932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AB0E09-8DDD-4C1F-A508-856482ADE4DD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0CDCD23E-3275-EFD9-8EEE-A4D620B60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BC7F29-8CED-C816-8D74-462E19DA2258}"/>
              </a:ext>
            </a:extLst>
          </p:cNvPr>
          <p:cNvSpPr txBox="1"/>
          <p:nvPr/>
        </p:nvSpPr>
        <p:spPr>
          <a:xfrm>
            <a:off x="706827" y="502842"/>
            <a:ext cx="62740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F41EB6-9C9F-BD0A-270B-5DD7E9029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985845"/>
              </p:ext>
            </p:extLst>
          </p:nvPr>
        </p:nvGraphicFramePr>
        <p:xfrm>
          <a:off x="706828" y="1159634"/>
          <a:ext cx="11268862" cy="5221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3383">
                  <a:extLst>
                    <a:ext uri="{9D8B030D-6E8A-4147-A177-3AD203B41FA5}">
                      <a16:colId xmlns:a16="http://schemas.microsoft.com/office/drawing/2014/main" val="374713127"/>
                    </a:ext>
                  </a:extLst>
                </a:gridCol>
                <a:gridCol w="2721337">
                  <a:extLst>
                    <a:ext uri="{9D8B030D-6E8A-4147-A177-3AD203B41FA5}">
                      <a16:colId xmlns:a16="http://schemas.microsoft.com/office/drawing/2014/main" val="245729594"/>
                    </a:ext>
                  </a:extLst>
                </a:gridCol>
                <a:gridCol w="2624147">
                  <a:extLst>
                    <a:ext uri="{9D8B030D-6E8A-4147-A177-3AD203B41FA5}">
                      <a16:colId xmlns:a16="http://schemas.microsoft.com/office/drawing/2014/main" val="2735580282"/>
                    </a:ext>
                  </a:extLst>
                </a:gridCol>
                <a:gridCol w="2497798">
                  <a:extLst>
                    <a:ext uri="{9D8B030D-6E8A-4147-A177-3AD203B41FA5}">
                      <a16:colId xmlns:a16="http://schemas.microsoft.com/office/drawing/2014/main" val="1495704656"/>
                    </a:ext>
                  </a:extLst>
                </a:gridCol>
                <a:gridCol w="2812197">
                  <a:extLst>
                    <a:ext uri="{9D8B030D-6E8A-4147-A177-3AD203B41FA5}">
                      <a16:colId xmlns:a16="http://schemas.microsoft.com/office/drawing/2014/main" val="1183044462"/>
                    </a:ext>
                  </a:extLst>
                </a:gridCol>
              </a:tblGrid>
              <a:tr h="19232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Paper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Technology Used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Major Findings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Advantages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Challenges/Limitations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3298055443"/>
                  </a:ext>
                </a:extLst>
              </a:tr>
              <a:tr h="5970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[2]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IoT-enabled smart bins, RFID, MQTT, Android &amp; web platform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data improves route optimization.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Reduced fuel consumption, cost savings.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setup costs, maintenance needs, data delays.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757236114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[4]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IoT, ultrasonic sensors, Arduino, </a:t>
                      </a:r>
                      <a:r>
                        <a:rPr lang="en-US" sz="1500" kern="1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Ubidots</a:t>
                      </a: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Cloud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bin monitoring with SMS alerts.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Prevents overflow, enhances efficiency.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maintenance costs, connectivity issues.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2534141431"/>
                  </a:ext>
                </a:extLst>
              </a:tr>
              <a:tr h="5970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[6]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Smart bins, GIS, auto-sorting, bio-refineries, microbial fuel cells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Efficient sorting and energy recovery.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Supports circular economy, resource recovery.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Technical challenges, limited real-world use.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2604082975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[7]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GPS, shortest path algorithm, mobile tracking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tracking for waste collection.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Reduces waiting time, improves routing.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Communication gaps, limited IoT integration.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4095747584"/>
                  </a:ext>
                </a:extLst>
              </a:tr>
              <a:tr h="5970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[8]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CPS, IoT, sensors, NFC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monitoring aids semi-urban areas.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Better resource allocation, transparency.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Maintenance issues, scalability limits, user education needed.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1095129236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[9]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 for developing countries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Community-focused waste collection.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Enhances engagement, public health.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costs, lack of regulatory support, limited research.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1557053692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[10]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IoT, sensors, cloud computing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Optimized routes with real-time analytics.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Supports data-driven decisions.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security, connectivity challenges, user education.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954234965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[11]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User-friendly e-waste collection interface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Flexible pickups, user notifications.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Improves user experience, reduces e-waste.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Adoption challenges, limited long-term data.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1691919850"/>
                  </a:ext>
                </a:extLst>
              </a:tr>
              <a:tr h="3946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[14]</a:t>
                      </a:r>
                      <a:endParaRPr lang="en-US" sz="1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planning, HMM, machine learning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Predictive models optimize waste collection.</a:t>
                      </a:r>
                      <a:endParaRPr lang="en-US" sz="15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Reduces unnecessary collections, saves resources.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Complex implementation, high data needs.</a:t>
                      </a:r>
                      <a:endParaRPr lang="en-US" sz="15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Iskoola Pota" panose="020B0502040204020203" pitchFamily="34" charset="0"/>
                      </a:endParaRPr>
                    </a:p>
                  </a:txBody>
                  <a:tcPr marL="65981" marR="65981" marT="0" marB="0"/>
                </a:tc>
                <a:extLst>
                  <a:ext uri="{0D108BD9-81ED-4DB2-BD59-A6C34878D82A}">
                    <a16:rowId xmlns:a16="http://schemas.microsoft.com/office/drawing/2014/main" val="1580116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11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2760E-179E-BFA0-AD4D-B4B30C3C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34CD0-F0B4-62B9-54DC-B6FD5C24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51A5D-226C-4505-5333-CBC31290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AB0E09-8DDD-4C1F-A508-856482ADE4DD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8498242D-C6DC-9C84-2DFC-9596A7B4C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3DE7AE6-41D3-C4F0-D780-3CEC8770B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647162"/>
              </p:ext>
            </p:extLst>
          </p:nvPr>
        </p:nvGraphicFramePr>
        <p:xfrm>
          <a:off x="745216" y="1150404"/>
          <a:ext cx="11250139" cy="5220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2106">
                  <a:extLst>
                    <a:ext uri="{9D8B030D-6E8A-4147-A177-3AD203B41FA5}">
                      <a16:colId xmlns:a16="http://schemas.microsoft.com/office/drawing/2014/main" val="992613943"/>
                    </a:ext>
                  </a:extLst>
                </a:gridCol>
                <a:gridCol w="2339961">
                  <a:extLst>
                    <a:ext uri="{9D8B030D-6E8A-4147-A177-3AD203B41FA5}">
                      <a16:colId xmlns:a16="http://schemas.microsoft.com/office/drawing/2014/main" val="776149857"/>
                    </a:ext>
                  </a:extLst>
                </a:gridCol>
                <a:gridCol w="1947139">
                  <a:extLst>
                    <a:ext uri="{9D8B030D-6E8A-4147-A177-3AD203B41FA5}">
                      <a16:colId xmlns:a16="http://schemas.microsoft.com/office/drawing/2014/main" val="689637735"/>
                    </a:ext>
                  </a:extLst>
                </a:gridCol>
                <a:gridCol w="2949916">
                  <a:extLst>
                    <a:ext uri="{9D8B030D-6E8A-4147-A177-3AD203B41FA5}">
                      <a16:colId xmlns:a16="http://schemas.microsoft.com/office/drawing/2014/main" val="2171290178"/>
                    </a:ext>
                  </a:extLst>
                </a:gridCol>
                <a:gridCol w="2541017">
                  <a:extLst>
                    <a:ext uri="{9D8B030D-6E8A-4147-A177-3AD203B41FA5}">
                      <a16:colId xmlns:a16="http://schemas.microsoft.com/office/drawing/2014/main" val="2496989968"/>
                    </a:ext>
                  </a:extLst>
                </a:gridCol>
              </a:tblGrid>
              <a:tr h="385422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Aspect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 anchor="ctr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Traditional Methods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 anchor="ctr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Benefits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 anchor="ctr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Modern Methods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 anchor="ctr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Benefits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 anchor="ctr"/>
                </a:tc>
                <a:extLst>
                  <a:ext uri="{0D108BD9-81ED-4DB2-BD59-A6C34878D82A}">
                    <a16:rowId xmlns:a16="http://schemas.microsoft.com/office/drawing/2014/main" val="4285142439"/>
                  </a:ext>
                </a:extLst>
              </a:tr>
              <a:tr h="89121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Collection Frequency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Fixed schedules,</a:t>
                      </a:r>
                    </a:p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regardless of bin fill levels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Simple, predictable timing for residents.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monitoring based on bin fill levels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Fewer trips, fuel savings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241147699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Routing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Pre-determined, static routes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Easy to plan &amp;</a:t>
                      </a:r>
                    </a:p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routing with GPS, IoT, Data analytics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Time, fuel, and congestion reduction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3461442265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Sorting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Manual at disposal sites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Basic waste separation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Automated with sensors and robotics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Better accuracy, higher recycling rate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1847193497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 Engagement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Limited involvement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 effort for users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Mobile apps, real-time alerts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 participation, waste reduction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2947823279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Collection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Manual records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Simple, tech-free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data with IoT, cloud storage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Predictive insights, improved decisions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2825522391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Cost Efficiency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Lower initial cost, no tech maintenance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 setup cost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 setup cost, long-term savings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Fuel and labor savings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2866484459"/>
                  </a:ext>
                </a:extLst>
              </a:tr>
              <a:tr h="65319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b="1" kern="100" cap="none" spc="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Environmental Impact</a:t>
                      </a:r>
                      <a:endParaRPr lang="en-US" sz="1500" b="1" kern="100" cap="none" spc="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 fuel use, no real-time adjustments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General approach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Optimized routes, waste-to-energy, biofuel conversion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Sustainable, lower emissions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966" marR="136310" marT="90743" marB="90743"/>
                </a:tc>
                <a:extLst>
                  <a:ext uri="{0D108BD9-81ED-4DB2-BD59-A6C34878D82A}">
                    <a16:rowId xmlns:a16="http://schemas.microsoft.com/office/drawing/2014/main" val="233339203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B54B298-1320-B687-7609-4FFDF0F7C23A}"/>
              </a:ext>
            </a:extLst>
          </p:cNvPr>
          <p:cNvSpPr txBox="1"/>
          <p:nvPr/>
        </p:nvSpPr>
        <p:spPr>
          <a:xfrm>
            <a:off x="643464" y="497864"/>
            <a:ext cx="68093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Cont.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64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41C1-499F-5D1C-4B34-BFC3AD35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50483-62FE-E17D-397E-ED3F1761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13195-5739-209E-CDC1-8C6A77CE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9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D4B63408-A9DE-EAAA-8A99-4FE269E5F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23D389-A984-72BD-2538-F895C9A5CECB}"/>
              </a:ext>
            </a:extLst>
          </p:cNvPr>
          <p:cNvSpPr txBox="1"/>
          <p:nvPr/>
        </p:nvSpPr>
        <p:spPr>
          <a:xfrm>
            <a:off x="589934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  <a:endParaRPr lang="en-US" sz="4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5CC9C-F5CC-2D4A-4C2E-2B8534E217A8}"/>
              </a:ext>
            </a:extLst>
          </p:cNvPr>
          <p:cNvSpPr txBox="1"/>
          <p:nvPr/>
        </p:nvSpPr>
        <p:spPr>
          <a:xfrm>
            <a:off x="589934" y="1267305"/>
            <a:ext cx="11317363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Survey: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Identified key techniques for waste collection improvement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Database Selection: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Used ScienceDirect, IEEE, Elsevier, ResearchGate, and Google Scholar (2019-2024)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Search Strategy: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Reviewed industry reports and academic sources using keywords like "smart waste collection" and "AI &amp; IoT in waste collection"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Screening &amp; Selection: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Followed PRISMA methodology, selecting 15 relevant studies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Data Analysis: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Evaluated findings, ethical considerations, and geographic coverage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Limitations: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Possible bias due to language restrictions and reliance on grey literature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Achieves Objective: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study systematically adopts a data-driven approach, effectively identifying modern waste collection technologies while providing valuable insights into real-time tracking, route optimization, and smart waste monitoring.</a:t>
            </a: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06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EE6C-9CA7-6BA9-FC30-62800B61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F3184-4D9E-5E80-7F67-A3EE89BE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69713-39EC-1CDF-BEA7-12DE4F27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10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C89AFEA6-D40F-DBC6-4E58-125E6ECF7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68523F-29EC-9378-2C98-A90747DAA01A}"/>
              </a:ext>
            </a:extLst>
          </p:cNvPr>
          <p:cNvSpPr txBox="1"/>
          <p:nvPr/>
        </p:nvSpPr>
        <p:spPr>
          <a:xfrm>
            <a:off x="494070" y="497864"/>
            <a:ext cx="70890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400" b="1" dirty="0">
                <a:latin typeface="Cambria" panose="02040503050406030204" pitchFamily="18" charset="0"/>
                <a:ea typeface="Cambria" panose="02040503050406030204" pitchFamily="18" charset="0"/>
              </a:rPr>
              <a:t>Findings and Discussion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ECD52-88B9-8EA0-5C2A-841AF8C73C49}"/>
              </a:ext>
            </a:extLst>
          </p:cNvPr>
          <p:cNvSpPr txBox="1"/>
          <p:nvPr/>
        </p:nvSpPr>
        <p:spPr>
          <a:xfrm>
            <a:off x="494070" y="1267305"/>
            <a:ext cx="1124564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Traditional vs. Smart Waste Collection: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Traditional methods rely on fixed schedules, leading to inefficiencies like unnecessary trips and higher costs. Smart systems integrate IoT, GPS, and AI for real-time monitoring, optimized routing, and reduced environmental impact</a:t>
            </a:r>
          </a:p>
          <a:p>
            <a:pPr marL="342900" indent="-342900" algn="just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Key Benefits: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Smart waste collection systems lead to reduced operational costs, improved efficiency, lower emissions, and enhanced user participation</a:t>
            </a:r>
            <a:endParaRPr lang="en-US" sz="3200" dirty="0">
              <a:effectLst/>
            </a:endParaRPr>
          </a:p>
          <a:p>
            <a:pPr marL="342900" indent="-342900" algn="just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Challenges: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High setup costs, maintenance needs, data security concerns, and infrastructure dependency remain major hurdles</a:t>
            </a:r>
            <a:endParaRPr lang="en-US" sz="3200" dirty="0">
              <a:effectLst/>
            </a:endParaRPr>
          </a:p>
          <a:p>
            <a:pPr marL="342900" indent="-342900" algn="just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Future Perspective: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Integration of predictive analytics, AI-driven automation, and waste-to-energy technologies will further enhance waste collection efficiency and sustainability</a:t>
            </a:r>
            <a:endParaRPr lang="en-US" sz="3200" dirty="0">
              <a:effectLst/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40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E7B3-B5F9-97C2-F2C7-8B3B60B6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5A479-B311-8A2C-A34C-7B9E2D7C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2133C-4AAF-8D36-10DF-2412D150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11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48D229C3-80D3-90EE-83F2-47CE3BC6B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E99215-D717-1F8F-E1F3-5E4B9EA29E72}"/>
              </a:ext>
            </a:extLst>
          </p:cNvPr>
          <p:cNvSpPr txBox="1"/>
          <p:nvPr/>
        </p:nvSpPr>
        <p:spPr>
          <a:xfrm>
            <a:off x="494069" y="1267305"/>
            <a:ext cx="630002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IoT Smart Bins: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Enable real-time waste level monitoring, reducing overflow and unnecessary pickups</a:t>
            </a:r>
            <a:endParaRPr lang="en-US" sz="3200" dirty="0">
              <a:effectLst/>
            </a:endParaRPr>
          </a:p>
          <a:p>
            <a:pPr marL="347472" indent="-347472" algn="just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GIS &amp; GPS: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Improve route efficiency, cutting fuel consumption</a:t>
            </a:r>
            <a:endParaRPr lang="en-US" sz="3200" dirty="0">
              <a:effectLst/>
            </a:endParaRPr>
          </a:p>
          <a:p>
            <a:pPr marL="347472" indent="-347472" algn="just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AI &amp; Machine Learning: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Optimize collection schedules and predict waste levels</a:t>
            </a:r>
            <a:endParaRPr lang="en-US" sz="3200" dirty="0">
              <a:effectLst/>
            </a:endParaRPr>
          </a:p>
          <a:p>
            <a:pPr marL="347472" indent="-347472" algn="just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Cloud Computing: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Facilitates real-time data integration and decision-making</a:t>
            </a:r>
            <a:endParaRPr lang="en-US" sz="3200" dirty="0">
              <a:effectLst/>
            </a:endParaRPr>
          </a:p>
          <a:p>
            <a:pPr marL="347472" indent="-347472" algn="just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Mobile Applications: 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Enhance user engagement through notifications and reporting features</a:t>
            </a:r>
            <a:endParaRPr lang="en-US" sz="32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EDE65-294B-1DD5-DA33-CDAEFBD5259B}"/>
              </a:ext>
            </a:extLst>
          </p:cNvPr>
          <p:cNvSpPr txBox="1"/>
          <p:nvPr/>
        </p:nvSpPr>
        <p:spPr>
          <a:xfrm>
            <a:off x="494069" y="497864"/>
            <a:ext cx="90038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400" b="1" dirty="0">
                <a:latin typeface="Cambria" panose="02040503050406030204" pitchFamily="18" charset="0"/>
                <a:ea typeface="Cambria" panose="02040503050406030204" pitchFamily="18" charset="0"/>
              </a:rPr>
              <a:t>Findings and Discussion Cont.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F9D40D55-3634-9C47-5622-8DEAC389C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45" y="1367638"/>
            <a:ext cx="5204693" cy="48883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70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CC32-F150-DD88-01C0-8924B865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00230-C911-94F9-4E36-E54C2F8BE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CAC84-F5D5-08F7-0BE8-11A17088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12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F6F9F0BC-67ED-537B-7B7D-5C10C180C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4102E2-5F3C-3418-CFA4-D7166ABC3FAA}"/>
              </a:ext>
            </a:extLst>
          </p:cNvPr>
          <p:cNvSpPr txBox="1"/>
          <p:nvPr/>
        </p:nvSpPr>
        <p:spPr>
          <a:xfrm>
            <a:off x="589935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E43FF-9690-9097-852C-5CAFB40C4E2C}"/>
              </a:ext>
            </a:extLst>
          </p:cNvPr>
          <p:cNvSpPr txBox="1"/>
          <p:nvPr/>
        </p:nvSpPr>
        <p:spPr>
          <a:xfrm>
            <a:off x="589935" y="1393417"/>
            <a:ext cx="11002625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Integration: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Combines IoT, AI, and GIS to enhance waste collection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Monitoring: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Enables efficient tracking and dynamic route optimization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Improved Communication: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Enhances interaction with residents for better waste management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Operational Efficiency: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Reduces fuel consumption and operational costs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Environmental Impact: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Supports sustainable urban growth by minimizing waste-related pollution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Challenges: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High initial costs and data security concerns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Future Potential: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Scalable solutions for smarter waste collection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Research Scope: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Refining predictive models and increasing community engagement</a:t>
            </a:r>
          </a:p>
        </p:txBody>
      </p:sp>
    </p:spTree>
    <p:extLst>
      <p:ext uri="{BB962C8B-B14F-4D97-AF65-F5344CB8AC3E}">
        <p14:creationId xmlns:p14="http://schemas.microsoft.com/office/powerpoint/2010/main" val="120849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FD90-8FC0-1BA3-8BC6-F12B0FAA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D4A9D-DBA7-9572-3165-6CB06826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E5282-20CA-FA27-8983-14A35F2C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13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BF601BE6-EAF4-ED65-8ED9-70454F751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208330-6DE3-E3E9-B0BA-D9405CDF2253}"/>
              </a:ext>
            </a:extLst>
          </p:cNvPr>
          <p:cNvSpPr txBox="1"/>
          <p:nvPr/>
        </p:nvSpPr>
        <p:spPr>
          <a:xfrm>
            <a:off x="589935" y="4978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41A99C4-AF85-E141-8DB4-CCC0A9C7B01F}"/>
              </a:ext>
            </a:extLst>
          </p:cNvPr>
          <p:cNvSpPr txBox="1"/>
          <p:nvPr/>
        </p:nvSpPr>
        <p:spPr>
          <a:xfrm>
            <a:off x="589935" y="1267305"/>
            <a:ext cx="111497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[1]	 “What a Waste 2.0 : A Global Snapshot of Solid Waste Management to 2050,” World Bank. Accessed: Oct. 29, 2024.Available:https://documents.worldbank.org/pt/publication/documents.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[2]	“Modern Technologies for Waste Management: A Review.” Accessed: Oct. 25, 2024. [Online]. Available: https://www.mdpi.com/2076-3417/13/15/8847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[3]	B. Chowdhury and M. U. Chowdhury, “RFID-based real-time smart waste management system,” in 2007 Australasian Telecommunication Networks and Applications Conference, Dec. 2007, pp. 175–180.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10.1109/ATNAC.2007.4665232.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[4]	Z. Hisham Che Soh, M.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Azeer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Al-Hami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Husa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S. Afzal Che Abdullah, and M.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Affandi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Shafie, “Smart Waste Collection Monitoring and Alert System via IoT,” Apr. 2019, pp. 50–54.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10.1109/ISCAIE.2019.8743746.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[5]	M.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Aazam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M. St-Hilaire, C.-H. Lung, and I.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Lambadaris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“Cloud-based smart waste management for smart cities,” in 2016 IEEE 21st International Workshop on Computer Aided Modelling and Design of Communication Links and Networks (CAMAD), Oct. 2016, pp. 188–193.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10.1109/CAMAD.2016.7790356.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[6]	A. Goutam Mukherjee et al., “A review on modern and smart technologies for efficient waste disposal and management,” J. Environ. Manage., vol. 297, p. 113347, Nov. 2021,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10.1016/j.jenvman.2021.113347.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[7]	R. K. A. R.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Kariapper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P.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Pirapuraj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M. S. S.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Razeeth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A. C. M.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Nafrees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and K. L. M. Rameez, “Smart Garbage Collection Using GPS &amp; Shortest Path Algorithm,” in 2019 IEEE Pune Section International Conference (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PuneCon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), Dec. 2019, pp. 1–6.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10.1109/PuneCon46936.2019.9105674.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[8]	Y. A. Fatimah, A.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Widianto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and M. Hanafi, “Cyber-physical System Enabled in Sustainable Waste Management 4.0: A Smart Waste Collection System for Indonesian Semi-Urban Cities,” Procedia Manuf., vol. 43, pp. 535–542, 2020,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10.1016/j.promfg.2020.02.169.</a:t>
            </a:r>
          </a:p>
        </p:txBody>
      </p:sp>
    </p:spTree>
    <p:extLst>
      <p:ext uri="{BB962C8B-B14F-4D97-AF65-F5344CB8AC3E}">
        <p14:creationId xmlns:p14="http://schemas.microsoft.com/office/powerpoint/2010/main" val="161463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DE2C-BC3A-18B2-F079-7002941C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7957E-68C7-7715-480D-32749981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850BA-7BCF-AEC7-2949-E85A026C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14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CA5CC2A9-DA33-4139-FECA-1004E4925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5A6EB1-AF54-C2D6-3AB7-60A9C3FE82D3}"/>
              </a:ext>
            </a:extLst>
          </p:cNvPr>
          <p:cNvSpPr txBox="1"/>
          <p:nvPr/>
        </p:nvSpPr>
        <p:spPr>
          <a:xfrm>
            <a:off x="619433" y="48039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Cont.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336C06A-86EE-10D5-59DC-3F557ED36ED9}"/>
              </a:ext>
            </a:extLst>
          </p:cNvPr>
          <p:cNvSpPr txBox="1"/>
          <p:nvPr/>
        </p:nvSpPr>
        <p:spPr>
          <a:xfrm>
            <a:off x="619433" y="1185704"/>
            <a:ext cx="1157256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[9]	C. S. de Morais, T. R. P. Ramos, M. Lopes, and A. P. Barbosa-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Póvoa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“A data-driven optimization approach to plan smart waste collection operations,” Int. Trans. Oper. Res., vol. 31, no. 4, pp. 2178–2208, 2024,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10.1111/itor.13235.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[10]	S. Keerthana, B.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Kiruthika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R.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Lokeshvaran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B.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Midhunchakkaravarthi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and G.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Dhivyasri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“A Review on Smart Waste Collection and Disposal System,” J. Phys. Conf. Ser., vol. 1969, p. 012029, Jul. 2021,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10.1088/1742-6596/1969/1/012029.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[11]	“Development of User Interface Design for Electronic Waste Collection with a Design Thinking Approach,” in Proceedings of the International Conference on Industrial Engineering and Operations Management, Orlando, USA: IEOM Society International, Jun. 2022, pp. 1636–1646.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10.46254/NA07.20220383.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[12]	K.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Leelarathne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R. T. Niroshan, and L. P.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Kalansooriya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“Optimum Waste Collection System with Smart Mobile Application,” 2021, Accessed: Aug. 06, 2024. [Online]. Available: https://scholar.google.com/scholar?cluster=9887963207950108195&amp;hl=en&amp;oi=scholarr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[13]	A. Fernando and R.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Kathriarachchi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“IoT Based Smart Solution for Waste Collection and Recycle,” Sep. 2019.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[14]	E.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Fidje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M.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Haddara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and M. Langseth, “Sustainable Smart Waste Management Adoption Challenges in Developing Countries,” Procedia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Comput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. Sci., vol. 219, pp. 905–914, Jan. 2023,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10.1016/j.procs.2023.01.366.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[15]	A. Mager and V. Blass, “From Illegal Waste Dumps to Beneficial Resources Using Drone Technology and Advanced Data Analysis Tools: A Feasibility Study,” Remote Sens., vol. 14, no. 16, Art. no. 16, Jan. 2022,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: 10.3390/rs14163923.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[16]	T.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Sutikno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H. I. K.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Fathurrahman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T.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Wahono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and L.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Handayani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, “Robotics Technologies in Urban Smart Waste Management,” High-Tech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Innov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. Ser., vol. 1, pp. 43–54, Jun. 2024.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[17]	“IoT based Waste Bin Monitoring for Smart Cities.” Accessed: Oct. 27, 2024. [Online]. Available: https://psiborg.in/iot-based-waste-bin-monitoring-for-smart-cities/</a:t>
            </a:r>
          </a:p>
          <a:p>
            <a:pPr algn="just">
              <a:spcBef>
                <a:spcPts val="600"/>
              </a:spcBef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[18]	P. D. Gunasekara, “SMART SYSTEM FOR WASTE MANAGEMENT”.</a:t>
            </a:r>
          </a:p>
        </p:txBody>
      </p:sp>
    </p:spTree>
    <p:extLst>
      <p:ext uri="{BB962C8B-B14F-4D97-AF65-F5344CB8AC3E}">
        <p14:creationId xmlns:p14="http://schemas.microsoft.com/office/powerpoint/2010/main" val="2212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C483A-EA85-D767-A353-1FA52836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E892-BB25-BD67-0633-073E0DC4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6" y="497864"/>
            <a:ext cx="10515600" cy="891817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Acknowledgment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BD798-C5E9-28CD-E0A0-A2F95183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E418F-29DC-A8B8-9AA0-DA3A3BC8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15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16296A83-6409-F98E-B10A-42B59C8B7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E0E3BCA5-290B-F0ED-8860-BF646E081CB2}"/>
              </a:ext>
            </a:extLst>
          </p:cNvPr>
          <p:cNvSpPr txBox="1"/>
          <p:nvPr/>
        </p:nvSpPr>
        <p:spPr>
          <a:xfrm>
            <a:off x="568960" y="1483504"/>
            <a:ext cx="11003280" cy="363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03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 extend my heartfelt gratitude to my supervisor, Mr. R.P.S.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Kathriarachchi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for his guidance and invaluable assistance throughout my research. I am also grateful for the support of my second supervisor, Miss. G.A.D.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Ganepola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whose contributions were instrumental. I would like to thank the senior and junior lecturers who shared their expertise and provided invaluable feedback, significantly improving the quality of my work. Lastly, I wish to acknowledge my family and colleagues, whose unwavering support made this research possible</a:t>
            </a:r>
            <a:endParaRPr lang="en-US" sz="2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28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76C0-63F5-4BB6-6B4A-1FB63A57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426847-1146-2A17-5F7F-D44F8BAA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85BC2-80EA-64CA-66A2-522C52EF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16</a:t>
            </a:fld>
            <a:endParaRPr lang="en-US"/>
          </a:p>
        </p:txBody>
      </p:sp>
      <p:pic>
        <p:nvPicPr>
          <p:cNvPr id="6" name="Content Placeholder 11" descr="A logo with a symbol and text&#10;&#10;Description automatically generated with medium confidence">
            <a:extLst>
              <a:ext uri="{FF2B5EF4-FFF2-40B4-BE49-F238E27FC236}">
                <a16:creationId xmlns:a16="http://schemas.microsoft.com/office/drawing/2014/main" id="{12F0ACD2-D96A-C603-8987-B2ADD6F66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43" y="0"/>
            <a:ext cx="1282995" cy="995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438BF24-16B2-94F4-0C17-6A364421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89275"/>
            <a:ext cx="9144000" cy="11867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THANK  YOU ! </a:t>
            </a:r>
          </a:p>
        </p:txBody>
      </p:sp>
    </p:spTree>
    <p:extLst>
      <p:ext uri="{BB962C8B-B14F-4D97-AF65-F5344CB8AC3E}">
        <p14:creationId xmlns:p14="http://schemas.microsoft.com/office/powerpoint/2010/main" val="361850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1952</TotalTime>
  <Words>2368</Words>
  <Application>Microsoft Office PowerPoint</Application>
  <PresentationFormat>Widescreen</PresentationFormat>
  <Paragraphs>212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</vt:lpstr>
      <vt:lpstr>Wingdings</vt:lpstr>
      <vt:lpstr>Office Theme</vt:lpstr>
      <vt:lpstr>5th Student Symposium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Acknowledgment </vt:lpstr>
      <vt:lpstr>THANK  YOU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Ms. Uma Meththananda</dc:creator>
  <cp:lastModifiedBy>Kebuni Ranasinghe</cp:lastModifiedBy>
  <cp:revision>14</cp:revision>
  <dcterms:created xsi:type="dcterms:W3CDTF">2025-01-03T09:49:51Z</dcterms:created>
  <dcterms:modified xsi:type="dcterms:W3CDTF">2025-02-04T10:28:02Z</dcterms:modified>
</cp:coreProperties>
</file>